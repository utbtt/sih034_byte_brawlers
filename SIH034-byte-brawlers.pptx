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elvetica World Bold" charset="1" panose="020B0800040000020004"/>
      <p:regular r:id="rId16"/>
    </p:embeddedFon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8"/>
    </p:embeddedFont>
    <p:embeddedFont>
      <p:font typeface="Aptos Bold" charset="1" panose="020B0004020202020204"/>
      <p:regular r:id="rId19"/>
    </p:embeddedFont>
    <p:embeddedFont>
      <p:font typeface="Tahoma Bold" charset="1" panose="020B0804030504040204"/>
      <p:regular r:id="rId20"/>
    </p:embeddedFont>
    <p:embeddedFont>
      <p:font typeface="Canva Sans" charset="1" panose="020B0503030501040103"/>
      <p:regular r:id="rId21"/>
    </p:embeddedFont>
    <p:embeddedFont>
      <p:font typeface="Helvetica World" charset="1" panose="020B0500040000020004"/>
      <p:regular r:id="rId22"/>
    </p:embeddedFont>
    <p:embeddedFont>
      <p:font typeface="Canva Sans Bold" charset="1" panose="020B0803030501040103"/>
      <p:regular r:id="rId23"/>
    </p:embeddedFont>
    <p:embeddedFont>
      <p:font typeface="League Spartan" charset="1" panose="00000800000000000000"/>
      <p:regular r:id="rId24"/>
    </p:embeddedFont>
    <p:embeddedFont>
      <p:font typeface="IBM Plex Sans Condensed Bold" charset="1" panose="020B0806050203000203"/>
      <p:regular r:id="rId25"/>
    </p:embeddedFont>
    <p:embeddedFont>
      <p:font typeface="Anton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4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VAHUlj9-iJU.mp4" Type="http://schemas.openxmlformats.org/officeDocument/2006/relationships/video"/><Relationship Id="rId4" Target="../media/VAHUlj9-iJU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83878" y="1714986"/>
            <a:ext cx="6953250" cy="7734300"/>
          </a:xfrm>
          <a:custGeom>
            <a:avLst/>
            <a:gdLst/>
            <a:ahLst/>
            <a:cxnLst/>
            <a:rect r="r" b="b" t="t" l="l"/>
            <a:pathLst>
              <a:path h="7734300" w="6953250">
                <a:moveTo>
                  <a:pt x="0" y="0"/>
                </a:moveTo>
                <a:lnTo>
                  <a:pt x="6953250" y="0"/>
                </a:lnTo>
                <a:lnTo>
                  <a:pt x="6953250" y="7734300"/>
                </a:lnTo>
                <a:lnTo>
                  <a:pt x="0" y="7734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91920" y="3578371"/>
            <a:ext cx="4931340" cy="5273116"/>
            <a:chOff x="0" y="0"/>
            <a:chExt cx="6575120" cy="70308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75171" cy="7030847"/>
            </a:xfrm>
            <a:custGeom>
              <a:avLst/>
              <a:gdLst/>
              <a:ahLst/>
              <a:cxnLst/>
              <a:rect r="r" b="b" t="t" l="l"/>
              <a:pathLst>
                <a:path h="7030847" w="6575171">
                  <a:moveTo>
                    <a:pt x="0" y="0"/>
                  </a:moveTo>
                  <a:lnTo>
                    <a:pt x="6575171" y="0"/>
                  </a:lnTo>
                  <a:lnTo>
                    <a:pt x="6575171" y="7030847"/>
                  </a:lnTo>
                  <a:lnTo>
                    <a:pt x="0" y="7030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3" r="0" b="-32"/>
              </a:stretch>
            </a:blipFill>
          </p:spPr>
        </p:sp>
      </p:grpSp>
      <p:sp>
        <p:nvSpPr>
          <p:cNvPr name="TextBox 5" id="5" descr="$PPTXTitle"/>
          <p:cNvSpPr txBox="true"/>
          <p:nvPr/>
        </p:nvSpPr>
        <p:spPr>
          <a:xfrm rot="0">
            <a:off x="2645874" y="970483"/>
            <a:ext cx="1206326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4573A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SMART INDIA HACKATHON 2025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309231" y="3747821"/>
            <a:ext cx="5199383" cy="464820"/>
            <a:chOff x="0" y="0"/>
            <a:chExt cx="6932511" cy="619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32295" cy="619633"/>
            </a:xfrm>
            <a:custGeom>
              <a:avLst/>
              <a:gdLst/>
              <a:ahLst/>
              <a:cxnLst/>
              <a:rect r="r" b="b" t="t" l="l"/>
              <a:pathLst>
                <a:path h="619633" w="6932295">
                  <a:moveTo>
                    <a:pt x="6932295" y="619633"/>
                  </a:moveTo>
                  <a:lnTo>
                    <a:pt x="0" y="619633"/>
                  </a:lnTo>
                  <a:lnTo>
                    <a:pt x="0" y="0"/>
                  </a:lnTo>
                  <a:lnTo>
                    <a:pt x="6932295" y="0"/>
                  </a:lnTo>
                  <a:lnTo>
                    <a:pt x="6932295" y="61963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57200" y="2095071"/>
            <a:ext cx="17068486" cy="682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511" indent="-214255" lvl="1">
              <a:lnSpc>
                <a:spcPts val="4140"/>
              </a:lnSpc>
              <a:buFont typeface="Arial"/>
              <a:buChar char="•"/>
            </a:pPr>
            <a:r>
              <a:rPr lang="en-US" b="true" sz="3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: </a:t>
            </a:r>
            <a:r>
              <a:rPr lang="en-US" b="true" sz="3450">
                <a:solidFill>
                  <a:srgbClr val="006600"/>
                </a:solidFill>
                <a:latin typeface="Arial Bold"/>
                <a:ea typeface="Arial Bold"/>
                <a:cs typeface="Arial Bold"/>
                <a:sym typeface="Arial Bold"/>
              </a:rPr>
              <a:t>SIH26034</a:t>
            </a:r>
          </a:p>
          <a:p>
            <a:pPr algn="l">
              <a:lnSpc>
                <a:spcPts val="4140"/>
              </a:lnSpc>
            </a:pPr>
          </a:p>
          <a:p>
            <a:pPr algn="l" marL="428511" indent="-214255" lvl="1">
              <a:lnSpc>
                <a:spcPts val="4140"/>
              </a:lnSpc>
              <a:buFont typeface="Arial"/>
              <a:buChar char="•"/>
            </a:pPr>
            <a:r>
              <a:rPr lang="en-US" b="true" sz="3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</a:t>
            </a:r>
            <a:r>
              <a:rPr lang="en-US" b="true" sz="3450">
                <a:solidFill>
                  <a:srgbClr val="006600"/>
                </a:solidFill>
                <a:latin typeface="Arial Bold"/>
                <a:ea typeface="Arial Bold"/>
                <a:cs typeface="Arial Bold"/>
                <a:sym typeface="Arial Bold"/>
              </a:rPr>
              <a:t> : Software System to check compliance of Packaged Commodities under Legal Metrology (Packaged Commodities) Rules, 2011 by scanning products, images and labels</a:t>
            </a:r>
            <a:r>
              <a:rPr lang="en-US" sz="345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4140"/>
              </a:lnSpc>
            </a:pPr>
          </a:p>
          <a:p>
            <a:pPr algn="l" marL="429825" indent="-214913" lvl="1">
              <a:lnSpc>
                <a:spcPts val="4140"/>
              </a:lnSpc>
              <a:buFont typeface="Arial"/>
              <a:buChar char="•"/>
            </a:pPr>
            <a:r>
              <a:rPr lang="en-US" b="true" sz="345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Theme</a:t>
            </a:r>
            <a:r>
              <a:rPr lang="en-US" b="true" sz="3450">
                <a:solidFill>
                  <a:srgbClr val="006600"/>
                </a:solidFill>
                <a:latin typeface="Aptos Bold"/>
                <a:ea typeface="Aptos Bold"/>
                <a:cs typeface="Aptos Bold"/>
                <a:sym typeface="Aptos Bold"/>
              </a:rPr>
              <a:t> : Agriculture, FoodTech &amp; Rural Development</a:t>
            </a:r>
          </a:p>
          <a:p>
            <a:pPr algn="l">
              <a:lnSpc>
                <a:spcPts val="4140"/>
              </a:lnSpc>
            </a:pPr>
          </a:p>
          <a:p>
            <a:pPr algn="l" marL="429825" indent="-214913" lvl="1">
              <a:lnSpc>
                <a:spcPts val="4140"/>
              </a:lnSpc>
              <a:buFont typeface="Arial"/>
              <a:buChar char="•"/>
            </a:pPr>
            <a:r>
              <a:rPr lang="en-US" b="true" sz="345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PS Category</a:t>
            </a:r>
            <a:r>
              <a:rPr lang="en-US" b="true" sz="3450">
                <a:solidFill>
                  <a:srgbClr val="006600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b="true" sz="3450">
                <a:solidFill>
                  <a:srgbClr val="007425"/>
                </a:solidFill>
                <a:latin typeface="Aptos Bold"/>
                <a:ea typeface="Aptos Bold"/>
                <a:cs typeface="Aptos Bold"/>
                <a:sym typeface="Aptos Bold"/>
              </a:rPr>
              <a:t>Software </a:t>
            </a:r>
          </a:p>
          <a:p>
            <a:pPr algn="l">
              <a:lnSpc>
                <a:spcPts val="4140"/>
              </a:lnSpc>
            </a:pPr>
          </a:p>
          <a:p>
            <a:pPr algn="l" marL="429825" indent="-214913" lvl="1">
              <a:lnSpc>
                <a:spcPts val="4140"/>
              </a:lnSpc>
              <a:buFont typeface="Arial"/>
              <a:buChar char="•"/>
            </a:pPr>
            <a:r>
              <a:rPr lang="en-US" b="true" sz="3450">
                <a:solidFill>
                  <a:srgbClr val="0D0D0D"/>
                </a:solidFill>
                <a:latin typeface="Aptos Bold"/>
                <a:ea typeface="Aptos Bold"/>
                <a:cs typeface="Aptos Bold"/>
                <a:sym typeface="Aptos Bold"/>
              </a:rPr>
              <a:t>Team ID :  </a:t>
            </a:r>
            <a:r>
              <a:rPr lang="en-US" b="true" sz="3450">
                <a:solidFill>
                  <a:srgbClr val="007425"/>
                </a:solidFill>
                <a:latin typeface="Aptos Bold"/>
                <a:ea typeface="Aptos Bold"/>
                <a:cs typeface="Aptos Bold"/>
                <a:sym typeface="Aptos Bold"/>
              </a:rPr>
              <a:t>SIH-298</a:t>
            </a:r>
          </a:p>
          <a:p>
            <a:pPr algn="l">
              <a:lnSpc>
                <a:spcPts val="4140"/>
              </a:lnSpc>
            </a:pPr>
          </a:p>
          <a:p>
            <a:pPr algn="l" marL="429825" indent="-214913" lvl="1">
              <a:lnSpc>
                <a:spcPts val="4140"/>
              </a:lnSpc>
              <a:buFont typeface="Arial"/>
              <a:buChar char="•"/>
            </a:pPr>
            <a:r>
              <a:rPr lang="en-US" b="true" sz="345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Team Name</a:t>
            </a:r>
            <a:r>
              <a:rPr lang="en-US" b="true" sz="3450">
                <a:solidFill>
                  <a:srgbClr val="0D0D0D"/>
                </a:solidFill>
                <a:latin typeface="Aptos Bold"/>
                <a:ea typeface="Aptos Bold"/>
                <a:cs typeface="Aptos Bold"/>
                <a:sym typeface="Aptos Bold"/>
              </a:rPr>
              <a:t> : </a:t>
            </a:r>
            <a:r>
              <a:rPr lang="en-US" b="true" sz="3450">
                <a:solidFill>
                  <a:srgbClr val="007425"/>
                </a:solidFill>
                <a:latin typeface="Aptos Bold"/>
                <a:ea typeface="Aptos Bold"/>
                <a:cs typeface="Aptos Bold"/>
                <a:sym typeface="Aptos Bold"/>
              </a:rPr>
              <a:t>Byte Brawlers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830425" y="0"/>
            <a:ext cx="3313652" cy="1684306"/>
            <a:chOff x="0" y="0"/>
            <a:chExt cx="4418203" cy="2245741"/>
          </a:xfrm>
        </p:grpSpPr>
        <p:sp>
          <p:nvSpPr>
            <p:cNvPr name="Freeform 10" id="10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" y="9788604"/>
            <a:ext cx="18289267" cy="498472"/>
            <a:chOff x="0" y="0"/>
            <a:chExt cx="24385689" cy="6646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5015" cy="664464"/>
            </a:xfrm>
            <a:custGeom>
              <a:avLst/>
              <a:gdLst/>
              <a:ahLst/>
              <a:cxnLst/>
              <a:rect r="r" b="b" t="t" l="l"/>
              <a:pathLst>
                <a:path h="664464" w="24385015">
                  <a:moveTo>
                    <a:pt x="24385015" y="664464"/>
                  </a:moveTo>
                  <a:lnTo>
                    <a:pt x="0" y="664464"/>
                  </a:lnTo>
                  <a:lnTo>
                    <a:pt x="0" y="0"/>
                  </a:lnTo>
                  <a:lnTo>
                    <a:pt x="24385015" y="0"/>
                  </a:lnTo>
                  <a:lnTo>
                    <a:pt x="24385015" y="664464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204793" y="9845754"/>
            <a:ext cx="4587128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5"/>
              </a:lnSpc>
            </a:pPr>
            <a:r>
              <a:rPr lang="en-US" b="true" sz="3500" spc="-9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@Byte-Brawlers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88735" y="9909124"/>
            <a:ext cx="323212" cy="39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5"/>
              </a:lnSpc>
            </a:pPr>
            <a:r>
              <a:rPr lang="en-US" b="true" sz="3300" spc="-4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114300"/>
            <a:ext cx="2928548" cy="1999821"/>
            <a:chOff x="0" y="0"/>
            <a:chExt cx="5318152" cy="3631613"/>
          </a:xfrm>
        </p:grpSpPr>
        <p:sp>
          <p:nvSpPr>
            <p:cNvPr name="Freeform 16" id="16" descr="BYTE BRAWLERS  AI-generated content may be incorrect."/>
            <p:cNvSpPr/>
            <p:nvPr/>
          </p:nvSpPr>
          <p:spPr>
            <a:xfrm flipH="false" flipV="false" rot="0">
              <a:off x="0" y="0"/>
              <a:ext cx="5318101" cy="3631639"/>
            </a:xfrm>
            <a:custGeom>
              <a:avLst/>
              <a:gdLst/>
              <a:ahLst/>
              <a:cxnLst/>
              <a:rect r="r" b="b" t="t" l="l"/>
              <a:pathLst>
                <a:path h="3631639" w="5318101">
                  <a:moveTo>
                    <a:pt x="0" y="0"/>
                  </a:moveTo>
                  <a:lnTo>
                    <a:pt x="5318101" y="0"/>
                  </a:lnTo>
                  <a:lnTo>
                    <a:pt x="5318101" y="3631639"/>
                  </a:lnTo>
                  <a:lnTo>
                    <a:pt x="0" y="3631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159" t="0" r="-416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88604"/>
            <a:ext cx="18289267" cy="498472"/>
            <a:chOff x="0" y="0"/>
            <a:chExt cx="24385689" cy="664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5015" cy="664464"/>
            </a:xfrm>
            <a:custGeom>
              <a:avLst/>
              <a:gdLst/>
              <a:ahLst/>
              <a:cxnLst/>
              <a:rect r="r" b="b" t="t" l="l"/>
              <a:pathLst>
                <a:path h="664464" w="24385015">
                  <a:moveTo>
                    <a:pt x="24385015" y="664464"/>
                  </a:moveTo>
                  <a:lnTo>
                    <a:pt x="0" y="664464"/>
                  </a:lnTo>
                  <a:lnTo>
                    <a:pt x="0" y="0"/>
                  </a:lnTo>
                  <a:lnTo>
                    <a:pt x="24385015" y="0"/>
                  </a:lnTo>
                  <a:lnTo>
                    <a:pt x="24385015" y="664464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788604"/>
            <a:ext cx="18289267" cy="498472"/>
            <a:chOff x="0" y="0"/>
            <a:chExt cx="24385689" cy="6646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5015" cy="664464"/>
            </a:xfrm>
            <a:custGeom>
              <a:avLst/>
              <a:gdLst/>
              <a:ahLst/>
              <a:cxnLst/>
              <a:rect r="r" b="b" t="t" l="l"/>
              <a:pathLst>
                <a:path h="664464" w="24385015">
                  <a:moveTo>
                    <a:pt x="24385015" y="664464"/>
                  </a:moveTo>
                  <a:lnTo>
                    <a:pt x="0" y="664464"/>
                  </a:lnTo>
                  <a:lnTo>
                    <a:pt x="0" y="0"/>
                  </a:lnTo>
                  <a:lnTo>
                    <a:pt x="24385015" y="0"/>
                  </a:lnTo>
                  <a:lnTo>
                    <a:pt x="24385015" y="664464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941440" y="0"/>
            <a:ext cx="2346541" cy="1184596"/>
            <a:chOff x="0" y="0"/>
            <a:chExt cx="3128721" cy="1579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8772" cy="1579499"/>
            </a:xfrm>
            <a:custGeom>
              <a:avLst/>
              <a:gdLst/>
              <a:ahLst/>
              <a:cxnLst/>
              <a:rect r="r" b="b" t="t" l="l"/>
              <a:pathLst>
                <a:path h="1579499" w="3128772">
                  <a:moveTo>
                    <a:pt x="0" y="0"/>
                  </a:moveTo>
                  <a:lnTo>
                    <a:pt x="3128772" y="0"/>
                  </a:lnTo>
                  <a:lnTo>
                    <a:pt x="3128772" y="1579499"/>
                  </a:lnTo>
                  <a:lnTo>
                    <a:pt x="0" y="157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42" r="1" b="-34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922859" y="9450943"/>
            <a:ext cx="125987" cy="114157"/>
            <a:chOff x="0" y="0"/>
            <a:chExt cx="167983" cy="1522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021" cy="152146"/>
            </a:xfrm>
            <a:custGeom>
              <a:avLst/>
              <a:gdLst/>
              <a:ahLst/>
              <a:cxnLst/>
              <a:rect r="r" b="b" t="t" l="l"/>
              <a:pathLst>
                <a:path h="152146" w="168021">
                  <a:moveTo>
                    <a:pt x="0" y="0"/>
                  </a:moveTo>
                  <a:lnTo>
                    <a:pt x="168021" y="0"/>
                  </a:lnTo>
                  <a:lnTo>
                    <a:pt x="168021" y="152146"/>
                  </a:lnTo>
                  <a:lnTo>
                    <a:pt x="0" y="152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67" t="0" r="-944" b="-4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923183" y="9455391"/>
            <a:ext cx="125444" cy="114414"/>
            <a:chOff x="0" y="0"/>
            <a:chExt cx="167259" cy="1525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259" cy="152527"/>
            </a:xfrm>
            <a:custGeom>
              <a:avLst/>
              <a:gdLst/>
              <a:ahLst/>
              <a:cxnLst/>
              <a:rect r="r" b="b" t="t" l="l"/>
              <a:pathLst>
                <a:path h="152527" w="167259">
                  <a:moveTo>
                    <a:pt x="0" y="0"/>
                  </a:moveTo>
                  <a:lnTo>
                    <a:pt x="167259" y="0"/>
                  </a:lnTo>
                  <a:lnTo>
                    <a:pt x="167259" y="152527"/>
                  </a:lnTo>
                  <a:lnTo>
                    <a:pt x="0" y="152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05" t="0" r="-1298" b="-1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31289" y="9364599"/>
            <a:ext cx="5075558" cy="45082"/>
            <a:chOff x="0" y="0"/>
            <a:chExt cx="6767411" cy="601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637" y="50800"/>
              <a:ext cx="8763" cy="8763"/>
            </a:xfrm>
            <a:custGeom>
              <a:avLst/>
              <a:gdLst/>
              <a:ahLst/>
              <a:cxnLst/>
              <a:rect r="r" b="b" t="t" l="l"/>
              <a:pathLst>
                <a:path h="8763" w="8763">
                  <a:moveTo>
                    <a:pt x="8763" y="0"/>
                  </a:moveTo>
                  <a:lnTo>
                    <a:pt x="0" y="0"/>
                  </a:lnTo>
                  <a:lnTo>
                    <a:pt x="0" y="8763"/>
                  </a:lnTo>
                  <a:lnTo>
                    <a:pt x="8763" y="8763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rgbClr val="000000">
                <a:alpha val="12941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00" cy="25400"/>
            </a:xfrm>
            <a:custGeom>
              <a:avLst/>
              <a:gdLst/>
              <a:ahLst/>
              <a:cxnLst/>
              <a:rect r="r" b="b" t="t" l="l"/>
              <a:pathLst>
                <a:path h="25400" w="25400">
                  <a:moveTo>
                    <a:pt x="254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25400" y="25400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0000">
                <a:alpha val="12941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42049" y="34163"/>
              <a:ext cx="25400" cy="25400"/>
            </a:xfrm>
            <a:custGeom>
              <a:avLst/>
              <a:gdLst/>
              <a:ahLst/>
              <a:cxnLst/>
              <a:rect r="r" b="b" t="t" l="l"/>
              <a:pathLst>
                <a:path h="25400" w="25400">
                  <a:moveTo>
                    <a:pt x="25400" y="0"/>
                  </a:moveTo>
                  <a:lnTo>
                    <a:pt x="5588" y="0"/>
                  </a:lnTo>
                  <a:lnTo>
                    <a:pt x="5588" y="19812"/>
                  </a:lnTo>
                  <a:lnTo>
                    <a:pt x="0" y="19812"/>
                  </a:lnTo>
                  <a:lnTo>
                    <a:pt x="0" y="25400"/>
                  </a:lnTo>
                  <a:lnTo>
                    <a:pt x="5588" y="25400"/>
                  </a:lnTo>
                  <a:lnTo>
                    <a:pt x="25400" y="25400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0000">
                <a:alpha val="1294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7936" y="5786916"/>
            <a:ext cx="9050134" cy="2765480"/>
            <a:chOff x="0" y="0"/>
            <a:chExt cx="12031351" cy="3676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31005" cy="3676264"/>
            </a:xfrm>
            <a:custGeom>
              <a:avLst/>
              <a:gdLst/>
              <a:ahLst/>
              <a:cxnLst/>
              <a:rect r="r" b="b" t="t" l="l"/>
              <a:pathLst>
                <a:path h="3676264" w="12031005">
                  <a:moveTo>
                    <a:pt x="11900257" y="3676264"/>
                  </a:moveTo>
                  <a:lnTo>
                    <a:pt x="130748" y="3676264"/>
                  </a:lnTo>
                  <a:lnTo>
                    <a:pt x="105159" y="3670961"/>
                  </a:lnTo>
                  <a:lnTo>
                    <a:pt x="58276" y="3630111"/>
                  </a:lnTo>
                  <a:lnTo>
                    <a:pt x="22040" y="3553911"/>
                  </a:lnTo>
                  <a:lnTo>
                    <a:pt x="2615" y="3455322"/>
                  </a:lnTo>
                  <a:lnTo>
                    <a:pt x="0" y="3401314"/>
                  </a:lnTo>
                  <a:lnTo>
                    <a:pt x="0" y="274949"/>
                  </a:lnTo>
                  <a:lnTo>
                    <a:pt x="9993" y="169683"/>
                  </a:lnTo>
                  <a:lnTo>
                    <a:pt x="38291" y="80521"/>
                  </a:lnTo>
                  <a:lnTo>
                    <a:pt x="80690" y="21014"/>
                  </a:lnTo>
                  <a:lnTo>
                    <a:pt x="130748" y="0"/>
                  </a:lnTo>
                  <a:lnTo>
                    <a:pt x="11900257" y="0"/>
                  </a:lnTo>
                  <a:lnTo>
                    <a:pt x="11950315" y="21014"/>
                  </a:lnTo>
                  <a:lnTo>
                    <a:pt x="11992715" y="80521"/>
                  </a:lnTo>
                  <a:lnTo>
                    <a:pt x="12021013" y="169683"/>
                  </a:lnTo>
                  <a:lnTo>
                    <a:pt x="12031005" y="274949"/>
                  </a:lnTo>
                  <a:lnTo>
                    <a:pt x="12031005" y="3401314"/>
                  </a:lnTo>
                  <a:lnTo>
                    <a:pt x="12021013" y="3506581"/>
                  </a:lnTo>
                  <a:lnTo>
                    <a:pt x="11992715" y="3595743"/>
                  </a:lnTo>
                  <a:lnTo>
                    <a:pt x="11950315" y="3655250"/>
                  </a:lnTo>
                  <a:lnTo>
                    <a:pt x="11900257" y="3676264"/>
                  </a:lnTo>
                  <a:close/>
                </a:path>
              </a:pathLst>
            </a:custGeom>
            <a:solidFill>
              <a:srgbClr val="007425">
                <a:alpha val="0"/>
              </a:srgbClr>
            </a:solidFill>
            <a:ln w="38100" cap="sq">
              <a:solidFill>
                <a:srgbClr val="0079C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403722" y="6477029"/>
            <a:ext cx="118320" cy="121006"/>
            <a:chOff x="0" y="0"/>
            <a:chExt cx="157759" cy="1613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7734" cy="161290"/>
            </a:xfrm>
            <a:custGeom>
              <a:avLst/>
              <a:gdLst/>
              <a:ahLst/>
              <a:cxnLst/>
              <a:rect r="r" b="b" t="t" l="l"/>
              <a:pathLst>
                <a:path h="161290" w="157734">
                  <a:moveTo>
                    <a:pt x="0" y="0"/>
                  </a:moveTo>
                  <a:lnTo>
                    <a:pt x="157734" y="0"/>
                  </a:lnTo>
                  <a:lnTo>
                    <a:pt x="157734" y="161290"/>
                  </a:lnTo>
                  <a:lnTo>
                    <a:pt x="0" y="161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35" t="0" r="-1151" b="-3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21083" y="7269686"/>
            <a:ext cx="163610" cy="183949"/>
            <a:chOff x="0" y="0"/>
            <a:chExt cx="203200" cy="2284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200" cy="228473"/>
            </a:xfrm>
            <a:custGeom>
              <a:avLst/>
              <a:gdLst/>
              <a:ahLst/>
              <a:cxnLst/>
              <a:rect r="r" b="b" t="t" l="l"/>
              <a:pathLst>
                <a:path h="228473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8473"/>
                  </a:lnTo>
                  <a:lnTo>
                    <a:pt x="0" y="228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2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39741" y="8002456"/>
            <a:ext cx="154282" cy="178160"/>
            <a:chOff x="0" y="0"/>
            <a:chExt cx="197841" cy="2284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7866" cy="228473"/>
            </a:xfrm>
            <a:custGeom>
              <a:avLst/>
              <a:gdLst/>
              <a:ahLst/>
              <a:cxnLst/>
              <a:rect r="r" b="b" t="t" l="l"/>
              <a:pathLst>
                <a:path h="228473" w="197866">
                  <a:moveTo>
                    <a:pt x="0" y="0"/>
                  </a:moveTo>
                  <a:lnTo>
                    <a:pt x="197866" y="0"/>
                  </a:lnTo>
                  <a:lnTo>
                    <a:pt x="197866" y="228473"/>
                  </a:lnTo>
                  <a:lnTo>
                    <a:pt x="0" y="228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83" r="12" b="-27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85205" y="2624655"/>
            <a:ext cx="9162851" cy="1738014"/>
            <a:chOff x="0" y="0"/>
            <a:chExt cx="12217135" cy="23173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216784" cy="2316560"/>
            </a:xfrm>
            <a:custGeom>
              <a:avLst/>
              <a:gdLst/>
              <a:ahLst/>
              <a:cxnLst/>
              <a:rect r="r" b="b" t="t" l="l"/>
              <a:pathLst>
                <a:path h="2316560" w="12216784">
                  <a:moveTo>
                    <a:pt x="12056481" y="2316560"/>
                  </a:moveTo>
                  <a:lnTo>
                    <a:pt x="146032" y="2316560"/>
                  </a:lnTo>
                  <a:cubicBezTo>
                    <a:pt x="137212" y="2316560"/>
                    <a:pt x="128414" y="2315664"/>
                    <a:pt x="119775" y="2313886"/>
                  </a:cubicBezTo>
                  <a:lnTo>
                    <a:pt x="119775" y="2313886"/>
                  </a:lnTo>
                  <a:cubicBezTo>
                    <a:pt x="111256" y="2312133"/>
                    <a:pt x="103329" y="2308224"/>
                    <a:pt x="96753" y="2302533"/>
                  </a:cubicBezTo>
                  <a:lnTo>
                    <a:pt x="82980" y="2290614"/>
                  </a:lnTo>
                  <a:cubicBezTo>
                    <a:pt x="67279" y="2277027"/>
                    <a:pt x="54549" y="2260350"/>
                    <a:pt x="45582" y="2241623"/>
                  </a:cubicBezTo>
                  <a:lnTo>
                    <a:pt x="40779" y="2231591"/>
                  </a:lnTo>
                  <a:cubicBezTo>
                    <a:pt x="28561" y="2206075"/>
                    <a:pt x="19588" y="2179129"/>
                    <a:pt x="14068" y="2151383"/>
                  </a:cubicBezTo>
                  <a:lnTo>
                    <a:pt x="7861" y="2120183"/>
                  </a:lnTo>
                  <a:cubicBezTo>
                    <a:pt x="4332" y="2102446"/>
                    <a:pt x="2133" y="2084470"/>
                    <a:pt x="1280" y="2066405"/>
                  </a:cubicBezTo>
                  <a:lnTo>
                    <a:pt x="1280" y="2066405"/>
                  </a:lnTo>
                  <a:cubicBezTo>
                    <a:pt x="427" y="2048318"/>
                    <a:pt x="0" y="2030213"/>
                    <a:pt x="0" y="2012105"/>
                  </a:cubicBezTo>
                  <a:lnTo>
                    <a:pt x="0" y="330613"/>
                  </a:lnTo>
                  <a:cubicBezTo>
                    <a:pt x="0" y="295085"/>
                    <a:pt x="1693" y="259576"/>
                    <a:pt x="5074" y="224209"/>
                  </a:cubicBezTo>
                  <a:lnTo>
                    <a:pt x="5656" y="218114"/>
                  </a:lnTo>
                  <a:cubicBezTo>
                    <a:pt x="8642" y="186879"/>
                    <a:pt x="14964" y="156055"/>
                    <a:pt x="24515" y="126167"/>
                  </a:cubicBezTo>
                  <a:lnTo>
                    <a:pt x="27641" y="116384"/>
                  </a:lnTo>
                  <a:cubicBezTo>
                    <a:pt x="35089" y="93076"/>
                    <a:pt x="46146" y="71081"/>
                    <a:pt x="60409" y="51200"/>
                  </a:cubicBezTo>
                  <a:lnTo>
                    <a:pt x="65885" y="43567"/>
                  </a:lnTo>
                  <a:cubicBezTo>
                    <a:pt x="76379" y="28940"/>
                    <a:pt x="90737" y="17524"/>
                    <a:pt x="107352" y="10596"/>
                  </a:cubicBezTo>
                  <a:lnTo>
                    <a:pt x="107352" y="10596"/>
                  </a:lnTo>
                  <a:cubicBezTo>
                    <a:pt x="124129" y="3601"/>
                    <a:pt x="142126" y="0"/>
                    <a:pt x="160303" y="0"/>
                  </a:cubicBezTo>
                  <a:lnTo>
                    <a:pt x="12056481" y="0"/>
                  </a:lnTo>
                  <a:cubicBezTo>
                    <a:pt x="12074658" y="0"/>
                    <a:pt x="12092655" y="3601"/>
                    <a:pt x="12109432" y="10596"/>
                  </a:cubicBezTo>
                  <a:lnTo>
                    <a:pt x="12109432" y="10596"/>
                  </a:lnTo>
                  <a:cubicBezTo>
                    <a:pt x="12126047" y="17524"/>
                    <a:pt x="12140405" y="28940"/>
                    <a:pt x="12150898" y="43566"/>
                  </a:cubicBezTo>
                  <a:lnTo>
                    <a:pt x="12156375" y="51200"/>
                  </a:lnTo>
                  <a:cubicBezTo>
                    <a:pt x="12170639" y="71081"/>
                    <a:pt x="12181695" y="93077"/>
                    <a:pt x="12189144" y="116384"/>
                  </a:cubicBezTo>
                  <a:lnTo>
                    <a:pt x="12192270" y="126167"/>
                  </a:lnTo>
                  <a:cubicBezTo>
                    <a:pt x="12201820" y="156055"/>
                    <a:pt x="12208142" y="186880"/>
                    <a:pt x="12211128" y="218114"/>
                  </a:cubicBezTo>
                  <a:lnTo>
                    <a:pt x="12211710" y="224209"/>
                  </a:lnTo>
                  <a:cubicBezTo>
                    <a:pt x="12215091" y="259576"/>
                    <a:pt x="12216784" y="295085"/>
                    <a:pt x="12216784" y="330613"/>
                  </a:cubicBezTo>
                  <a:lnTo>
                    <a:pt x="12216784" y="1985947"/>
                  </a:lnTo>
                  <a:cubicBezTo>
                    <a:pt x="12216784" y="2021476"/>
                    <a:pt x="12215091" y="2056984"/>
                    <a:pt x="12211710" y="2092352"/>
                  </a:cubicBezTo>
                  <a:lnTo>
                    <a:pt x="12211128" y="2098446"/>
                  </a:lnTo>
                  <a:cubicBezTo>
                    <a:pt x="12208142" y="2129681"/>
                    <a:pt x="12201820" y="2160506"/>
                    <a:pt x="12192270" y="2190393"/>
                  </a:cubicBezTo>
                  <a:lnTo>
                    <a:pt x="12189144" y="2200176"/>
                  </a:lnTo>
                  <a:cubicBezTo>
                    <a:pt x="12181695" y="2223484"/>
                    <a:pt x="12170639" y="2245479"/>
                    <a:pt x="12156375" y="2265361"/>
                  </a:cubicBezTo>
                  <a:lnTo>
                    <a:pt x="12150898" y="2272994"/>
                  </a:lnTo>
                  <a:cubicBezTo>
                    <a:pt x="12140405" y="2287620"/>
                    <a:pt x="12126047" y="2299037"/>
                    <a:pt x="12109432" y="2305964"/>
                  </a:cubicBezTo>
                  <a:lnTo>
                    <a:pt x="12109432" y="2305964"/>
                  </a:lnTo>
                  <a:cubicBezTo>
                    <a:pt x="12092655" y="2312959"/>
                    <a:pt x="12074658" y="2316560"/>
                    <a:pt x="12056481" y="2316560"/>
                  </a:cubicBezTo>
                  <a:close/>
                </a:path>
              </a:pathLst>
            </a:custGeom>
            <a:solidFill>
              <a:srgbClr val="007425">
                <a:alpha val="0"/>
              </a:srgbClr>
            </a:solid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35076" y="1977156"/>
            <a:ext cx="3088434" cy="557179"/>
            <a:chOff x="0" y="0"/>
            <a:chExt cx="3511969" cy="6335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11550" cy="633162"/>
            </a:xfrm>
            <a:custGeom>
              <a:avLst/>
              <a:gdLst/>
              <a:ahLst/>
              <a:cxnLst/>
              <a:rect r="r" b="b" t="t" l="l"/>
              <a:pathLst>
                <a:path h="633162" w="3511550">
                  <a:moveTo>
                    <a:pt x="3333750" y="633162"/>
                  </a:moveTo>
                  <a:lnTo>
                    <a:pt x="177800" y="633162"/>
                  </a:lnTo>
                  <a:lnTo>
                    <a:pt x="143002" y="628892"/>
                  </a:lnTo>
                  <a:lnTo>
                    <a:pt x="79248" y="596001"/>
                  </a:lnTo>
                  <a:lnTo>
                    <a:pt x="29972" y="534645"/>
                  </a:lnTo>
                  <a:lnTo>
                    <a:pt x="3429" y="455263"/>
                  </a:lnTo>
                  <a:lnTo>
                    <a:pt x="0" y="411777"/>
                  </a:lnTo>
                  <a:lnTo>
                    <a:pt x="0" y="221385"/>
                  </a:lnTo>
                  <a:lnTo>
                    <a:pt x="13589" y="136626"/>
                  </a:lnTo>
                  <a:lnTo>
                    <a:pt x="52070" y="64834"/>
                  </a:lnTo>
                  <a:lnTo>
                    <a:pt x="109728" y="16920"/>
                  </a:lnTo>
                  <a:lnTo>
                    <a:pt x="177800" y="0"/>
                  </a:lnTo>
                  <a:lnTo>
                    <a:pt x="3333750" y="0"/>
                  </a:lnTo>
                  <a:lnTo>
                    <a:pt x="3401822" y="16920"/>
                  </a:lnTo>
                  <a:lnTo>
                    <a:pt x="3459480" y="64834"/>
                  </a:lnTo>
                  <a:lnTo>
                    <a:pt x="3497961" y="136626"/>
                  </a:lnTo>
                  <a:lnTo>
                    <a:pt x="3511550" y="221385"/>
                  </a:lnTo>
                  <a:lnTo>
                    <a:pt x="3511550" y="411777"/>
                  </a:lnTo>
                  <a:lnTo>
                    <a:pt x="3497961" y="496535"/>
                  </a:lnTo>
                  <a:lnTo>
                    <a:pt x="3459480" y="568327"/>
                  </a:lnTo>
                  <a:lnTo>
                    <a:pt x="3401822" y="616242"/>
                  </a:lnTo>
                  <a:lnTo>
                    <a:pt x="3333750" y="63316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84140" y="2391449"/>
            <a:ext cx="148380" cy="171345"/>
            <a:chOff x="0" y="0"/>
            <a:chExt cx="197841" cy="2284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7866" cy="228473"/>
            </a:xfrm>
            <a:custGeom>
              <a:avLst/>
              <a:gdLst/>
              <a:ahLst/>
              <a:cxnLst/>
              <a:rect r="r" b="b" t="t" l="l"/>
              <a:pathLst>
                <a:path h="228473" w="197866">
                  <a:moveTo>
                    <a:pt x="0" y="0"/>
                  </a:moveTo>
                  <a:lnTo>
                    <a:pt x="197866" y="0"/>
                  </a:lnTo>
                  <a:lnTo>
                    <a:pt x="197866" y="228473"/>
                  </a:lnTo>
                  <a:lnTo>
                    <a:pt x="0" y="228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22" t="0" r="-1309" b="5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321083" y="5543769"/>
            <a:ext cx="123150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3"/>
              </a:lnSpc>
            </a:pPr>
            <a:r>
              <a:rPr lang="en-US" b="true" sz="1928" spc="-9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PROPOSED SOLUTION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21083" y="5143500"/>
            <a:ext cx="3364716" cy="487515"/>
            <a:chOff x="0" y="0"/>
            <a:chExt cx="3511969" cy="5088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11550" cy="508508"/>
            </a:xfrm>
            <a:custGeom>
              <a:avLst/>
              <a:gdLst/>
              <a:ahLst/>
              <a:cxnLst/>
              <a:rect r="r" b="b" t="t" l="l"/>
              <a:pathLst>
                <a:path h="508508" w="3511550">
                  <a:moveTo>
                    <a:pt x="3333750" y="508508"/>
                  </a:moveTo>
                  <a:lnTo>
                    <a:pt x="177800" y="508508"/>
                  </a:lnTo>
                  <a:lnTo>
                    <a:pt x="143002" y="505079"/>
                  </a:lnTo>
                  <a:lnTo>
                    <a:pt x="79248" y="478663"/>
                  </a:lnTo>
                  <a:lnTo>
                    <a:pt x="29972" y="429387"/>
                  </a:lnTo>
                  <a:lnTo>
                    <a:pt x="3429" y="365633"/>
                  </a:lnTo>
                  <a:lnTo>
                    <a:pt x="0" y="330708"/>
                  </a:lnTo>
                  <a:lnTo>
                    <a:pt x="0" y="177800"/>
                  </a:lnTo>
                  <a:lnTo>
                    <a:pt x="13589" y="109728"/>
                  </a:lnTo>
                  <a:lnTo>
                    <a:pt x="52070" y="52070"/>
                  </a:lnTo>
                  <a:lnTo>
                    <a:pt x="109728" y="13589"/>
                  </a:lnTo>
                  <a:lnTo>
                    <a:pt x="177800" y="0"/>
                  </a:lnTo>
                  <a:lnTo>
                    <a:pt x="3333750" y="0"/>
                  </a:lnTo>
                  <a:lnTo>
                    <a:pt x="3401822" y="13589"/>
                  </a:lnTo>
                  <a:lnTo>
                    <a:pt x="3459480" y="52070"/>
                  </a:lnTo>
                  <a:lnTo>
                    <a:pt x="3497961" y="109728"/>
                  </a:lnTo>
                  <a:lnTo>
                    <a:pt x="3511550" y="177800"/>
                  </a:lnTo>
                  <a:lnTo>
                    <a:pt x="3511550" y="330708"/>
                  </a:lnTo>
                  <a:lnTo>
                    <a:pt x="3497961" y="398780"/>
                  </a:lnTo>
                  <a:lnTo>
                    <a:pt x="3459480" y="456438"/>
                  </a:lnTo>
                  <a:lnTo>
                    <a:pt x="3401822" y="494919"/>
                  </a:lnTo>
                  <a:lnTo>
                    <a:pt x="3333750" y="508508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30412" y="6210519"/>
            <a:ext cx="163610" cy="183949"/>
            <a:chOff x="0" y="0"/>
            <a:chExt cx="203200" cy="2284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3200" cy="228473"/>
            </a:xfrm>
            <a:custGeom>
              <a:avLst/>
              <a:gdLst/>
              <a:ahLst/>
              <a:cxnLst/>
              <a:rect r="r" b="b" t="t" l="l"/>
              <a:pathLst>
                <a:path h="228473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8473"/>
                  </a:lnTo>
                  <a:lnTo>
                    <a:pt x="0" y="228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22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9483568" y="4629369"/>
            <a:ext cx="8804412" cy="4439955"/>
          </a:xfrm>
          <a:custGeom>
            <a:avLst/>
            <a:gdLst/>
            <a:ahLst/>
            <a:cxnLst/>
            <a:rect r="r" b="b" t="t" l="l"/>
            <a:pathLst>
              <a:path h="4439955" w="8804412">
                <a:moveTo>
                  <a:pt x="0" y="0"/>
                </a:moveTo>
                <a:lnTo>
                  <a:pt x="8804413" y="0"/>
                </a:lnTo>
                <a:lnTo>
                  <a:pt x="8804413" y="4439955"/>
                </a:lnTo>
                <a:lnTo>
                  <a:pt x="0" y="44399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7404" t="-14335" r="-10424" b="-187825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575875" y="123491"/>
            <a:ext cx="2672782" cy="2672782"/>
          </a:xfrm>
          <a:custGeom>
            <a:avLst/>
            <a:gdLst/>
            <a:ahLst/>
            <a:cxnLst/>
            <a:rect r="r" b="b" t="t" l="l"/>
            <a:pathLst>
              <a:path h="2672782" w="2672782">
                <a:moveTo>
                  <a:pt x="0" y="0"/>
                </a:moveTo>
                <a:lnTo>
                  <a:pt x="2672782" y="0"/>
                </a:lnTo>
                <a:lnTo>
                  <a:pt x="2672782" y="2672782"/>
                </a:lnTo>
                <a:lnTo>
                  <a:pt x="0" y="2672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4616508" y="1454378"/>
            <a:ext cx="4725236" cy="3045263"/>
            <a:chOff x="0" y="0"/>
            <a:chExt cx="879816" cy="56701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79816" cy="567013"/>
            </a:xfrm>
            <a:custGeom>
              <a:avLst/>
              <a:gdLst/>
              <a:ahLst/>
              <a:cxnLst/>
              <a:rect r="r" b="b" t="t" l="l"/>
              <a:pathLst>
                <a:path h="567013" w="879816">
                  <a:moveTo>
                    <a:pt x="30720" y="0"/>
                  </a:moveTo>
                  <a:lnTo>
                    <a:pt x="661514" y="0"/>
                  </a:lnTo>
                  <a:cubicBezTo>
                    <a:pt x="784885" y="0"/>
                    <a:pt x="879816" y="126930"/>
                    <a:pt x="879816" y="283506"/>
                  </a:cubicBezTo>
                  <a:cubicBezTo>
                    <a:pt x="879816" y="440083"/>
                    <a:pt x="784885" y="567013"/>
                    <a:pt x="661514" y="567013"/>
                  </a:cubicBezTo>
                  <a:lnTo>
                    <a:pt x="30720" y="567013"/>
                  </a:lnTo>
                  <a:cubicBezTo>
                    <a:pt x="22573" y="567013"/>
                    <a:pt x="14759" y="563776"/>
                    <a:pt x="8998" y="558015"/>
                  </a:cubicBezTo>
                  <a:cubicBezTo>
                    <a:pt x="3237" y="552254"/>
                    <a:pt x="0" y="544440"/>
                    <a:pt x="0" y="536293"/>
                  </a:cubicBezTo>
                  <a:lnTo>
                    <a:pt x="0" y="30720"/>
                  </a:lnTo>
                  <a:cubicBezTo>
                    <a:pt x="0" y="22573"/>
                    <a:pt x="3237" y="14759"/>
                    <a:pt x="8998" y="8998"/>
                  </a:cubicBezTo>
                  <a:cubicBezTo>
                    <a:pt x="14759" y="3237"/>
                    <a:pt x="22573" y="0"/>
                    <a:pt x="30720" y="0"/>
                  </a:cubicBezTo>
                  <a:close/>
                </a:path>
              </a:pathLst>
            </a:custGeom>
            <a:solidFill>
              <a:srgbClr val="D4B50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25400" y="-38100"/>
              <a:ext cx="651216" cy="605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  <a:r>
                <a:rPr lang="en-US" sz="1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LAY'S CLASSIC SALTED POTATO CHIPS</a:t>
              </a:r>
            </a:p>
            <a:p>
              <a:pPr algn="l">
                <a:lnSpc>
                  <a:spcPts val="1679"/>
                </a:lnSpc>
              </a:pPr>
              <a:r>
                <a:rPr lang="en-US" sz="11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INGREDIENTS:</a:t>
              </a:r>
              <a:r>
                <a:rPr lang="en-US" sz="1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Potatoes, Edible Vegetable Oil (Palmolein), Iodised Salt.</a:t>
              </a:r>
            </a:p>
            <a:p>
              <a:pPr algn="l">
                <a:lnSpc>
                  <a:spcPts val="1679"/>
                </a:lnSpc>
              </a:pPr>
              <a:r>
                <a:rPr lang="en-US" sz="1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ALLERGEN INFORMATION: No added gluten.</a:t>
              </a:r>
            </a:p>
            <a:p>
              <a:pPr algn="l">
                <a:lnSpc>
                  <a:spcPts val="1679"/>
                </a:lnSpc>
              </a:pPr>
              <a:r>
                <a:rPr lang="en-US" sz="11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NET QUANTITY:52 g</a:t>
              </a:r>
            </a:p>
            <a:p>
              <a:pPr algn="l">
                <a:lnSpc>
                  <a:spcPts val="1679"/>
                </a:lnSpc>
              </a:pPr>
              <a:r>
                <a:rPr lang="en-US" sz="11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DATE OF MANUFACTURE: 08/09/2026</a:t>
              </a:r>
            </a:p>
            <a:p>
              <a:pPr algn="l">
                <a:lnSpc>
                  <a:spcPts val="1679"/>
                </a:lnSpc>
              </a:pPr>
              <a:r>
                <a:rPr lang="en-US" sz="11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BEST BEFORE</a:t>
              </a:r>
              <a:r>
                <a:rPr lang="en-US" sz="1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6 MONTHS FROM DATE OF MANUFACTURE</a:t>
              </a:r>
            </a:p>
            <a:p>
              <a:pPr algn="l">
                <a:lnSpc>
                  <a:spcPts val="1679"/>
                </a:lnSpc>
              </a:pPr>
              <a:r>
                <a:rPr lang="en-US" sz="11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MAXIMUM RETAIL PRICE:</a:t>
              </a:r>
              <a:r>
                <a:rPr lang="en-US" sz="1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₹20.00 (INCLUSIVE OF ALL TAXES)</a:t>
              </a:r>
            </a:p>
            <a:p>
              <a:pPr algn="l">
                <a:lnSpc>
                  <a:spcPts val="1679"/>
                </a:lnSpc>
              </a:pPr>
              <a:r>
                <a:rPr lang="en-US" sz="11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MANUFACTURED BY: Example Foods India Pvt. Ltd.</a:t>
              </a:r>
            </a:p>
            <a:p>
              <a:pPr algn="l">
                <a:lnSpc>
                  <a:spcPts val="1679"/>
                </a:lnSpc>
              </a:pPr>
              <a:r>
                <a:rPr lang="en-US" sz="11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etc.</a:t>
              </a: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8983411">
            <a:off x="13904510" y="2007032"/>
            <a:ext cx="688294" cy="566830"/>
            <a:chOff x="0" y="0"/>
            <a:chExt cx="647700" cy="533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D0D0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20650" y="98425"/>
              <a:ext cx="527050" cy="269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92634" y="5997146"/>
            <a:ext cx="8525863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Compliance Scanner to s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 a label to automatically check key declarations against Legal Metrology requirements.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94022" y="2619562"/>
            <a:ext cx="8578135" cy="377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1899">
                <a:solidFill>
                  <a:srgbClr val="0D0D0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Manual Inspection is Slow &amp; Subjective: Manual label checks for 50+ rules, high error rates due to human fatigue</a:t>
            </a:r>
          </a:p>
          <a:p>
            <a:pPr algn="l">
              <a:lnSpc>
                <a:spcPts val="3381"/>
              </a:lnSpc>
            </a:pPr>
            <a:r>
              <a:rPr lang="en-US" sz="1899">
                <a:solidFill>
                  <a:srgbClr val="0D0D0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Bribery &amp; Under-Reporting: Inspectors can be bribed to overlook non-compliant labels, letting violators go. </a:t>
            </a:r>
          </a:p>
          <a:p>
            <a:pPr algn="l">
              <a:lnSpc>
                <a:spcPts val="3373"/>
              </a:lnSpc>
            </a:pPr>
          </a:p>
          <a:p>
            <a:pPr algn="l">
              <a:lnSpc>
                <a:spcPts val="3373"/>
              </a:lnSpc>
            </a:pPr>
          </a:p>
          <a:p>
            <a:pPr algn="l">
              <a:lnSpc>
                <a:spcPts val="3373"/>
              </a:lnSpc>
            </a:pPr>
          </a:p>
          <a:p>
            <a:pPr algn="l">
              <a:lnSpc>
                <a:spcPts val="3373"/>
              </a:lnSpc>
            </a:pPr>
          </a:p>
          <a:p>
            <a:pPr algn="l">
              <a:lnSpc>
                <a:spcPts val="3374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7688735" y="9909124"/>
            <a:ext cx="323212" cy="39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5"/>
              </a:lnSpc>
            </a:pPr>
            <a:r>
              <a:rPr lang="en-US" b="true" sz="3300" spc="-4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93268" y="6985206"/>
            <a:ext cx="8525230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Deterministic Approach and regex-based rule engine check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missing, incorrect, or unclear information, making compliance issues easy to understand.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93268" y="7831431"/>
            <a:ext cx="8278314" cy="540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6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Offline &amp; Traceable Inspection: </a:t>
            </a:r>
            <a:r>
              <a:rPr lang="en-US" sz="16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 checks without external AI/API dependency and generate a digital report for every inspection.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968109" y="9674624"/>
            <a:ext cx="351163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@Byte-Brawlers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35076" y="2038972"/>
            <a:ext cx="2997139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spc="-3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PROBLEM EXISTING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15634" y="5162103"/>
            <a:ext cx="3246139" cy="39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0"/>
              </a:lnSpc>
              <a:spcBef>
                <a:spcPct val="0"/>
              </a:spcBef>
            </a:pPr>
            <a:r>
              <a:rPr lang="en-US" b="true" sz="2164" spc="-3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OUR </a:t>
            </a:r>
            <a:r>
              <a:rPr lang="en-US" b="true" sz="2164" spc="-3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SOLUTION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35076" y="939097"/>
            <a:ext cx="10163674" cy="43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b="true" sz="25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PACKAGED COMMODITIES COMPLIANCE CHECK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1083" y="17232"/>
            <a:ext cx="5634574" cy="277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METROCHECK</a:t>
            </a:r>
          </a:p>
          <a:p>
            <a:pPr algn="l">
              <a:lnSpc>
                <a:spcPts val="7212"/>
              </a:lnSpc>
            </a:pPr>
          </a:p>
          <a:p>
            <a:pPr algn="l">
              <a:lnSpc>
                <a:spcPts val="721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3164" y="-294814"/>
            <a:ext cx="14359337" cy="10159560"/>
          </a:xfrm>
          <a:custGeom>
            <a:avLst/>
            <a:gdLst/>
            <a:ahLst/>
            <a:cxnLst/>
            <a:rect r="r" b="b" t="t" l="l"/>
            <a:pathLst>
              <a:path h="10159560" w="14359337">
                <a:moveTo>
                  <a:pt x="0" y="0"/>
                </a:moveTo>
                <a:lnTo>
                  <a:pt x="14359336" y="0"/>
                </a:lnTo>
                <a:lnTo>
                  <a:pt x="14359336" y="10159560"/>
                </a:lnTo>
                <a:lnTo>
                  <a:pt x="0" y="1015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1" r="0" b="-5102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75543" y="4288566"/>
            <a:ext cx="1987509" cy="923866"/>
            <a:chOff x="0" y="0"/>
            <a:chExt cx="478653" cy="222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8653" cy="222495"/>
            </a:xfrm>
            <a:custGeom>
              <a:avLst/>
              <a:gdLst/>
              <a:ahLst/>
              <a:cxnLst/>
              <a:rect r="r" b="b" t="t" l="l"/>
              <a:pathLst>
                <a:path h="222495" w="478653">
                  <a:moveTo>
                    <a:pt x="35058" y="0"/>
                  </a:moveTo>
                  <a:lnTo>
                    <a:pt x="443596" y="0"/>
                  </a:lnTo>
                  <a:cubicBezTo>
                    <a:pt x="452893" y="0"/>
                    <a:pt x="461811" y="3694"/>
                    <a:pt x="468385" y="10268"/>
                  </a:cubicBezTo>
                  <a:cubicBezTo>
                    <a:pt x="474960" y="16843"/>
                    <a:pt x="478653" y="25760"/>
                    <a:pt x="478653" y="35058"/>
                  </a:cubicBezTo>
                  <a:lnTo>
                    <a:pt x="478653" y="187438"/>
                  </a:lnTo>
                  <a:cubicBezTo>
                    <a:pt x="478653" y="196736"/>
                    <a:pt x="474960" y="205653"/>
                    <a:pt x="468385" y="212227"/>
                  </a:cubicBezTo>
                  <a:cubicBezTo>
                    <a:pt x="461811" y="218802"/>
                    <a:pt x="452893" y="222495"/>
                    <a:pt x="443596" y="222495"/>
                  </a:cubicBezTo>
                  <a:lnTo>
                    <a:pt x="35058" y="222495"/>
                  </a:lnTo>
                  <a:cubicBezTo>
                    <a:pt x="25760" y="222495"/>
                    <a:pt x="16843" y="218802"/>
                    <a:pt x="10268" y="212227"/>
                  </a:cubicBezTo>
                  <a:cubicBezTo>
                    <a:pt x="3694" y="205653"/>
                    <a:pt x="0" y="196736"/>
                    <a:pt x="0" y="187438"/>
                  </a:cubicBezTo>
                  <a:lnTo>
                    <a:pt x="0" y="35058"/>
                  </a:lnTo>
                  <a:cubicBezTo>
                    <a:pt x="0" y="25760"/>
                    <a:pt x="3694" y="16843"/>
                    <a:pt x="10268" y="10268"/>
                  </a:cubicBezTo>
                  <a:cubicBezTo>
                    <a:pt x="16843" y="3694"/>
                    <a:pt x="25760" y="0"/>
                    <a:pt x="350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8653" cy="260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sz="1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TextNormaliser</a:t>
              </a:r>
            </a:p>
            <a:p>
              <a:pPr algn="ctr">
                <a:lnSpc>
                  <a:spcPts val="2099"/>
                </a:lnSpc>
              </a:pPr>
              <a:r>
                <a:rPr lang="en-US" sz="1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.java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10875" y="4288566"/>
            <a:ext cx="1966593" cy="923866"/>
            <a:chOff x="0" y="0"/>
            <a:chExt cx="473616" cy="2224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3616" cy="222495"/>
            </a:xfrm>
            <a:custGeom>
              <a:avLst/>
              <a:gdLst/>
              <a:ahLst/>
              <a:cxnLst/>
              <a:rect r="r" b="b" t="t" l="l"/>
              <a:pathLst>
                <a:path h="222495" w="473616">
                  <a:moveTo>
                    <a:pt x="35430" y="0"/>
                  </a:moveTo>
                  <a:lnTo>
                    <a:pt x="438186" y="0"/>
                  </a:lnTo>
                  <a:cubicBezTo>
                    <a:pt x="457753" y="0"/>
                    <a:pt x="473616" y="15863"/>
                    <a:pt x="473616" y="35430"/>
                  </a:cubicBezTo>
                  <a:lnTo>
                    <a:pt x="473616" y="187065"/>
                  </a:lnTo>
                  <a:cubicBezTo>
                    <a:pt x="473616" y="206633"/>
                    <a:pt x="457753" y="222495"/>
                    <a:pt x="438186" y="222495"/>
                  </a:cubicBezTo>
                  <a:lnTo>
                    <a:pt x="35430" y="222495"/>
                  </a:lnTo>
                  <a:cubicBezTo>
                    <a:pt x="15863" y="222495"/>
                    <a:pt x="0" y="206633"/>
                    <a:pt x="0" y="187065"/>
                  </a:cubicBezTo>
                  <a:lnTo>
                    <a:pt x="0" y="35430"/>
                  </a:lnTo>
                  <a:cubicBezTo>
                    <a:pt x="0" y="15863"/>
                    <a:pt x="15863" y="0"/>
                    <a:pt x="354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73616" cy="260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sz="1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OcrNumeric</a:t>
              </a:r>
            </a:p>
            <a:p>
              <a:pPr algn="ctr">
                <a:lnSpc>
                  <a:spcPts val="2099"/>
                </a:lnSpc>
              </a:pPr>
              <a:r>
                <a:rPr lang="en-US" sz="1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.java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346750" y="4288566"/>
            <a:ext cx="2013460" cy="923866"/>
            <a:chOff x="0" y="0"/>
            <a:chExt cx="484903" cy="2224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4903" cy="222495"/>
            </a:xfrm>
            <a:custGeom>
              <a:avLst/>
              <a:gdLst/>
              <a:ahLst/>
              <a:cxnLst/>
              <a:rect r="r" b="b" t="t" l="l"/>
              <a:pathLst>
                <a:path h="222495" w="484903">
                  <a:moveTo>
                    <a:pt x="34606" y="0"/>
                  </a:moveTo>
                  <a:lnTo>
                    <a:pt x="450297" y="0"/>
                  </a:lnTo>
                  <a:cubicBezTo>
                    <a:pt x="469410" y="0"/>
                    <a:pt x="484903" y="15494"/>
                    <a:pt x="484903" y="34606"/>
                  </a:cubicBezTo>
                  <a:lnTo>
                    <a:pt x="484903" y="187890"/>
                  </a:lnTo>
                  <a:cubicBezTo>
                    <a:pt x="484903" y="197068"/>
                    <a:pt x="481257" y="205870"/>
                    <a:pt x="474767" y="212360"/>
                  </a:cubicBezTo>
                  <a:cubicBezTo>
                    <a:pt x="468278" y="218849"/>
                    <a:pt x="459475" y="222495"/>
                    <a:pt x="450297" y="222495"/>
                  </a:cubicBezTo>
                  <a:lnTo>
                    <a:pt x="34606" y="222495"/>
                  </a:lnTo>
                  <a:cubicBezTo>
                    <a:pt x="25428" y="222495"/>
                    <a:pt x="16626" y="218849"/>
                    <a:pt x="10136" y="212360"/>
                  </a:cubicBezTo>
                  <a:cubicBezTo>
                    <a:pt x="3646" y="205870"/>
                    <a:pt x="0" y="197068"/>
                    <a:pt x="0" y="187890"/>
                  </a:cubicBezTo>
                  <a:lnTo>
                    <a:pt x="0" y="34606"/>
                  </a:lnTo>
                  <a:cubicBezTo>
                    <a:pt x="0" y="25428"/>
                    <a:pt x="3646" y="16626"/>
                    <a:pt x="10136" y="10136"/>
                  </a:cubicBezTo>
                  <a:cubicBezTo>
                    <a:pt x="16626" y="3646"/>
                    <a:pt x="25428" y="0"/>
                    <a:pt x="346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4903" cy="260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sz="1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SectionExtractor</a:t>
              </a:r>
            </a:p>
            <a:p>
              <a:pPr algn="ctr">
                <a:lnSpc>
                  <a:spcPts val="2099"/>
                </a:lnSpc>
              </a:pPr>
              <a:r>
                <a:rPr lang="en-US" sz="1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.java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10160" y="4288566"/>
            <a:ext cx="1718222" cy="923866"/>
            <a:chOff x="0" y="0"/>
            <a:chExt cx="413801" cy="2224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3801" cy="222495"/>
            </a:xfrm>
            <a:custGeom>
              <a:avLst/>
              <a:gdLst/>
              <a:ahLst/>
              <a:cxnLst/>
              <a:rect r="r" b="b" t="t" l="l"/>
              <a:pathLst>
                <a:path h="222495" w="413801">
                  <a:moveTo>
                    <a:pt x="40552" y="0"/>
                  </a:moveTo>
                  <a:lnTo>
                    <a:pt x="373249" y="0"/>
                  </a:lnTo>
                  <a:cubicBezTo>
                    <a:pt x="395645" y="0"/>
                    <a:pt x="413801" y="18156"/>
                    <a:pt x="413801" y="40552"/>
                  </a:cubicBezTo>
                  <a:lnTo>
                    <a:pt x="413801" y="181943"/>
                  </a:lnTo>
                  <a:cubicBezTo>
                    <a:pt x="413801" y="192698"/>
                    <a:pt x="409528" y="203013"/>
                    <a:pt x="401923" y="210618"/>
                  </a:cubicBezTo>
                  <a:cubicBezTo>
                    <a:pt x="394318" y="218223"/>
                    <a:pt x="384004" y="222495"/>
                    <a:pt x="373249" y="222495"/>
                  </a:cubicBezTo>
                  <a:lnTo>
                    <a:pt x="40552" y="222495"/>
                  </a:lnTo>
                  <a:cubicBezTo>
                    <a:pt x="29797" y="222495"/>
                    <a:pt x="19482" y="218223"/>
                    <a:pt x="11877" y="210618"/>
                  </a:cubicBezTo>
                  <a:cubicBezTo>
                    <a:pt x="4272" y="203013"/>
                    <a:pt x="0" y="192698"/>
                    <a:pt x="0" y="181943"/>
                  </a:cubicBezTo>
                  <a:lnTo>
                    <a:pt x="0" y="40552"/>
                  </a:lnTo>
                  <a:cubicBezTo>
                    <a:pt x="0" y="29797"/>
                    <a:pt x="4272" y="19482"/>
                    <a:pt x="11877" y="11877"/>
                  </a:cubicBezTo>
                  <a:cubicBezTo>
                    <a:pt x="19482" y="4272"/>
                    <a:pt x="29797" y="0"/>
                    <a:pt x="405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13801" cy="260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  <a:r>
                <a:rPr lang="en-US" sz="1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ProductData</a:t>
              </a:r>
            </a:p>
            <a:p>
              <a:pPr algn="ctr">
                <a:lnSpc>
                  <a:spcPts val="2099"/>
                </a:lnSpc>
              </a:pPr>
              <a:r>
                <a:rPr lang="en-US" sz="1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.java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9788604"/>
            <a:ext cx="18289267" cy="498472"/>
            <a:chOff x="0" y="0"/>
            <a:chExt cx="24385689" cy="6646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5015" cy="664464"/>
            </a:xfrm>
            <a:custGeom>
              <a:avLst/>
              <a:gdLst/>
              <a:ahLst/>
              <a:cxnLst/>
              <a:rect r="r" b="b" t="t" l="l"/>
              <a:pathLst>
                <a:path h="664464" w="24385015">
                  <a:moveTo>
                    <a:pt x="24385015" y="664464"/>
                  </a:moveTo>
                  <a:lnTo>
                    <a:pt x="0" y="664464"/>
                  </a:lnTo>
                  <a:lnTo>
                    <a:pt x="0" y="0"/>
                  </a:lnTo>
                  <a:lnTo>
                    <a:pt x="24385015" y="0"/>
                  </a:lnTo>
                  <a:lnTo>
                    <a:pt x="24385015" y="664464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9788604"/>
            <a:ext cx="18289267" cy="498472"/>
            <a:chOff x="0" y="0"/>
            <a:chExt cx="24385689" cy="6646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5015" cy="664464"/>
            </a:xfrm>
            <a:custGeom>
              <a:avLst/>
              <a:gdLst/>
              <a:ahLst/>
              <a:cxnLst/>
              <a:rect r="r" b="b" t="t" l="l"/>
              <a:pathLst>
                <a:path h="664464" w="24385015">
                  <a:moveTo>
                    <a:pt x="24385015" y="664464"/>
                  </a:moveTo>
                  <a:lnTo>
                    <a:pt x="0" y="664464"/>
                  </a:lnTo>
                  <a:lnTo>
                    <a:pt x="0" y="0"/>
                  </a:lnTo>
                  <a:lnTo>
                    <a:pt x="24385015" y="0"/>
                  </a:lnTo>
                  <a:lnTo>
                    <a:pt x="24385015" y="664464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941459" y="0"/>
            <a:ext cx="2346541" cy="1184596"/>
            <a:chOff x="0" y="0"/>
            <a:chExt cx="3128721" cy="15794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28772" cy="1579499"/>
            </a:xfrm>
            <a:custGeom>
              <a:avLst/>
              <a:gdLst/>
              <a:ahLst/>
              <a:cxnLst/>
              <a:rect r="r" b="b" t="t" l="l"/>
              <a:pathLst>
                <a:path h="1579499" w="3128772">
                  <a:moveTo>
                    <a:pt x="0" y="0"/>
                  </a:moveTo>
                  <a:lnTo>
                    <a:pt x="3128772" y="0"/>
                  </a:lnTo>
                  <a:lnTo>
                    <a:pt x="3128772" y="1579499"/>
                  </a:lnTo>
                  <a:lnTo>
                    <a:pt x="0" y="157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2" r="1" b="-3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069927" y="1465414"/>
            <a:ext cx="4090689" cy="1776191"/>
            <a:chOff x="0" y="0"/>
            <a:chExt cx="841706" cy="3654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102" y="0"/>
              <a:ext cx="833604" cy="365471"/>
            </a:xfrm>
            <a:custGeom>
              <a:avLst/>
              <a:gdLst/>
              <a:ahLst/>
              <a:cxnLst/>
              <a:rect r="r" b="b" t="t" l="l"/>
              <a:pathLst>
                <a:path h="365471" w="833604">
                  <a:moveTo>
                    <a:pt x="789829" y="0"/>
                  </a:moveTo>
                  <a:lnTo>
                    <a:pt x="181519" y="0"/>
                  </a:lnTo>
                  <a:cubicBezTo>
                    <a:pt x="168323" y="0"/>
                    <a:pt x="155726" y="5510"/>
                    <a:pt x="146768" y="15200"/>
                  </a:cubicBezTo>
                  <a:lnTo>
                    <a:pt x="5949" y="167535"/>
                  </a:lnTo>
                  <a:cubicBezTo>
                    <a:pt x="-1983" y="176117"/>
                    <a:pt x="-1983" y="189355"/>
                    <a:pt x="5949" y="197936"/>
                  </a:cubicBezTo>
                  <a:lnTo>
                    <a:pt x="146768" y="350271"/>
                  </a:lnTo>
                  <a:cubicBezTo>
                    <a:pt x="155726" y="359961"/>
                    <a:pt x="168323" y="365471"/>
                    <a:pt x="181519" y="365471"/>
                  </a:cubicBezTo>
                  <a:lnTo>
                    <a:pt x="789829" y="365471"/>
                  </a:lnTo>
                  <a:cubicBezTo>
                    <a:pt x="789829" y="365471"/>
                    <a:pt x="833604" y="311481"/>
                    <a:pt x="833604" y="182736"/>
                  </a:cubicBezTo>
                  <a:cubicBezTo>
                    <a:pt x="833604" y="53990"/>
                    <a:pt x="789829" y="0"/>
                    <a:pt x="789829" y="0"/>
                  </a:cubicBezTo>
                  <a:close/>
                </a:path>
              </a:pathLst>
            </a:custGeom>
            <a:solidFill>
              <a:srgbClr val="007AC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84150" y="-66675"/>
              <a:ext cx="613106" cy="432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 and Workflow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069927" y="3381485"/>
            <a:ext cx="4090689" cy="621332"/>
            <a:chOff x="0" y="0"/>
            <a:chExt cx="635000" cy="964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" cy="96450"/>
            </a:xfrm>
            <a:custGeom>
              <a:avLst/>
              <a:gdLst/>
              <a:ahLst/>
              <a:cxnLst/>
              <a:rect r="r" b="b" t="t" l="l"/>
              <a:pathLst>
                <a:path h="96450" w="635000">
                  <a:moveTo>
                    <a:pt x="36964" y="0"/>
                  </a:moveTo>
                  <a:lnTo>
                    <a:pt x="598036" y="0"/>
                  </a:lnTo>
                  <a:cubicBezTo>
                    <a:pt x="618451" y="0"/>
                    <a:pt x="635000" y="16549"/>
                    <a:pt x="635000" y="36964"/>
                  </a:cubicBezTo>
                  <a:lnTo>
                    <a:pt x="635000" y="59485"/>
                  </a:lnTo>
                  <a:cubicBezTo>
                    <a:pt x="635000" y="79900"/>
                    <a:pt x="618451" y="96450"/>
                    <a:pt x="598036" y="96450"/>
                  </a:cubicBezTo>
                  <a:lnTo>
                    <a:pt x="36964" y="96450"/>
                  </a:lnTo>
                  <a:cubicBezTo>
                    <a:pt x="16549" y="96450"/>
                    <a:pt x="0" y="79900"/>
                    <a:pt x="0" y="59485"/>
                  </a:cubicBezTo>
                  <a:lnTo>
                    <a:pt x="0" y="36964"/>
                  </a:lnTo>
                  <a:cubicBezTo>
                    <a:pt x="0" y="16549"/>
                    <a:pt x="16549" y="0"/>
                    <a:pt x="36964" y="0"/>
                  </a:cubicBezTo>
                  <a:close/>
                </a:path>
              </a:pathLst>
            </a:custGeom>
            <a:solidFill>
              <a:srgbClr val="007AC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635000" cy="163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069927" y="4145691"/>
            <a:ext cx="4090689" cy="4211310"/>
            <a:chOff x="0" y="0"/>
            <a:chExt cx="635000" cy="6537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0" cy="653724"/>
            </a:xfrm>
            <a:custGeom>
              <a:avLst/>
              <a:gdLst/>
              <a:ahLst/>
              <a:cxnLst/>
              <a:rect r="r" b="b" t="t" l="l"/>
              <a:pathLst>
                <a:path h="653724" w="635000">
                  <a:moveTo>
                    <a:pt x="36964" y="0"/>
                  </a:moveTo>
                  <a:lnTo>
                    <a:pt x="598036" y="0"/>
                  </a:lnTo>
                  <a:cubicBezTo>
                    <a:pt x="618451" y="0"/>
                    <a:pt x="635000" y="16549"/>
                    <a:pt x="635000" y="36964"/>
                  </a:cubicBezTo>
                  <a:lnTo>
                    <a:pt x="635000" y="616760"/>
                  </a:lnTo>
                  <a:cubicBezTo>
                    <a:pt x="635000" y="637175"/>
                    <a:pt x="618451" y="653724"/>
                    <a:pt x="598036" y="653724"/>
                  </a:cubicBezTo>
                  <a:lnTo>
                    <a:pt x="36964" y="653724"/>
                  </a:lnTo>
                  <a:cubicBezTo>
                    <a:pt x="16549" y="653724"/>
                    <a:pt x="0" y="637175"/>
                    <a:pt x="0" y="616760"/>
                  </a:cubicBezTo>
                  <a:lnTo>
                    <a:pt x="0" y="36964"/>
                  </a:lnTo>
                  <a:cubicBezTo>
                    <a:pt x="0" y="16549"/>
                    <a:pt x="16549" y="0"/>
                    <a:pt x="369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70C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35000" cy="72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180850" y="4240941"/>
            <a:ext cx="4447619" cy="256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3"/>
              </a:lnSpc>
            </a:pPr>
            <a:r>
              <a:rPr lang="en-US" sz="238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Backend: </a:t>
            </a:r>
          </a:p>
          <a:p>
            <a:pPr algn="l">
              <a:lnSpc>
                <a:spcPts val="3333"/>
              </a:lnSpc>
              <a:spcBef>
                <a:spcPct val="0"/>
              </a:spcBef>
            </a:pPr>
            <a:r>
              <a:rPr lang="en-US" sz="23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Java Apache Maven</a:t>
            </a:r>
          </a:p>
          <a:p>
            <a:pPr algn="l">
              <a:lnSpc>
                <a:spcPts val="3333"/>
              </a:lnSpc>
              <a:spcBef>
                <a:spcPct val="0"/>
              </a:spcBef>
            </a:pPr>
            <a:r>
              <a:rPr lang="en-US" sz="23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OpenCV · Tesseract OCR</a:t>
            </a:r>
          </a:p>
          <a:p>
            <a:pPr algn="l">
              <a:lnSpc>
                <a:spcPts val="3333"/>
              </a:lnSpc>
              <a:spcBef>
                <a:spcPct val="0"/>
              </a:spcBef>
            </a:pPr>
            <a:r>
              <a:rPr lang="en-US" sz="23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Tess4J · Jackson</a:t>
            </a:r>
          </a:p>
          <a:p>
            <a:pPr algn="l">
              <a:lnSpc>
                <a:spcPts val="3333"/>
              </a:lnSpc>
              <a:spcBef>
                <a:spcPct val="0"/>
              </a:spcBef>
            </a:pPr>
            <a:r>
              <a:rPr lang="en-US" sz="23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Java Built-In API (Regex API, Image IO, Java Time API)</a:t>
            </a:r>
          </a:p>
        </p:txBody>
      </p:sp>
      <p:sp>
        <p:nvSpPr>
          <p:cNvPr name="TextBox 31" id="31" descr="$PPTXTitle"/>
          <p:cNvSpPr txBox="true"/>
          <p:nvPr/>
        </p:nvSpPr>
        <p:spPr>
          <a:xfrm rot="0">
            <a:off x="14365945" y="3381485"/>
            <a:ext cx="3794671" cy="58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351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Technical Stack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86172" y="6896364"/>
            <a:ext cx="3974444" cy="85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3"/>
              </a:lnSpc>
              <a:spcBef>
                <a:spcPct val="0"/>
              </a:spcBef>
            </a:pPr>
            <a:r>
              <a:rPr lang="en-US" b="true" sz="238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Frontend: </a:t>
            </a:r>
            <a:r>
              <a:rPr lang="en-US" sz="238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Typescript, React, Python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68109" y="9674624"/>
            <a:ext cx="351163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@Byte-Brawlers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88604"/>
            <a:ext cx="18289267" cy="498472"/>
            <a:chOff x="0" y="0"/>
            <a:chExt cx="24385689" cy="664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5015" cy="664464"/>
            </a:xfrm>
            <a:custGeom>
              <a:avLst/>
              <a:gdLst/>
              <a:ahLst/>
              <a:cxnLst/>
              <a:rect r="r" b="b" t="t" l="l"/>
              <a:pathLst>
                <a:path h="664464" w="24385015">
                  <a:moveTo>
                    <a:pt x="24385015" y="664464"/>
                  </a:moveTo>
                  <a:lnTo>
                    <a:pt x="0" y="664464"/>
                  </a:lnTo>
                  <a:lnTo>
                    <a:pt x="0" y="0"/>
                  </a:lnTo>
                  <a:lnTo>
                    <a:pt x="24385015" y="0"/>
                  </a:lnTo>
                  <a:lnTo>
                    <a:pt x="24385015" y="664464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788604"/>
            <a:ext cx="18289267" cy="498472"/>
            <a:chOff x="0" y="0"/>
            <a:chExt cx="24385689" cy="6646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5015" cy="664464"/>
            </a:xfrm>
            <a:custGeom>
              <a:avLst/>
              <a:gdLst/>
              <a:ahLst/>
              <a:cxnLst/>
              <a:rect r="r" b="b" t="t" l="l"/>
              <a:pathLst>
                <a:path h="664464" w="24385015">
                  <a:moveTo>
                    <a:pt x="24385015" y="664464"/>
                  </a:moveTo>
                  <a:lnTo>
                    <a:pt x="0" y="664464"/>
                  </a:lnTo>
                  <a:lnTo>
                    <a:pt x="0" y="0"/>
                  </a:lnTo>
                  <a:lnTo>
                    <a:pt x="24385015" y="0"/>
                  </a:lnTo>
                  <a:lnTo>
                    <a:pt x="24385015" y="664464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36168" y="1065752"/>
            <a:ext cx="8613153" cy="4566318"/>
            <a:chOff x="0" y="0"/>
            <a:chExt cx="11484204" cy="60884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83595" cy="6088105"/>
            </a:xfrm>
            <a:custGeom>
              <a:avLst/>
              <a:gdLst/>
              <a:ahLst/>
              <a:cxnLst/>
              <a:rect r="r" b="b" t="t" l="l"/>
              <a:pathLst>
                <a:path h="6088105" w="11483595">
                  <a:moveTo>
                    <a:pt x="11328979" y="6088105"/>
                  </a:moveTo>
                  <a:lnTo>
                    <a:pt x="142222" y="6088105"/>
                  </a:lnTo>
                  <a:cubicBezTo>
                    <a:pt x="133739" y="6088105"/>
                    <a:pt x="125258" y="6087768"/>
                    <a:pt x="116802" y="6087096"/>
                  </a:cubicBezTo>
                  <a:lnTo>
                    <a:pt x="116802" y="6087096"/>
                  </a:lnTo>
                  <a:cubicBezTo>
                    <a:pt x="108401" y="6086428"/>
                    <a:pt x="100172" y="6084355"/>
                    <a:pt x="92458" y="6080964"/>
                  </a:cubicBezTo>
                  <a:lnTo>
                    <a:pt x="67614" y="6070040"/>
                  </a:lnTo>
                  <a:cubicBezTo>
                    <a:pt x="48250" y="6061527"/>
                    <a:pt x="31778" y="6047568"/>
                    <a:pt x="20201" y="6029865"/>
                  </a:cubicBezTo>
                  <a:lnTo>
                    <a:pt x="8195" y="6011505"/>
                  </a:lnTo>
                  <a:cubicBezTo>
                    <a:pt x="4423" y="6005737"/>
                    <a:pt x="2039" y="5999174"/>
                    <a:pt x="1230" y="5992330"/>
                  </a:cubicBezTo>
                  <a:lnTo>
                    <a:pt x="1230" y="5992330"/>
                  </a:lnTo>
                  <a:cubicBezTo>
                    <a:pt x="411" y="5985398"/>
                    <a:pt x="0" y="5978425"/>
                    <a:pt x="0" y="5971445"/>
                  </a:cubicBezTo>
                  <a:lnTo>
                    <a:pt x="0" y="137590"/>
                  </a:lnTo>
                  <a:cubicBezTo>
                    <a:pt x="0" y="116815"/>
                    <a:pt x="3683" y="96205"/>
                    <a:pt x="10877" y="76716"/>
                  </a:cubicBezTo>
                  <a:lnTo>
                    <a:pt x="10877" y="76716"/>
                  </a:lnTo>
                  <a:cubicBezTo>
                    <a:pt x="17949" y="57559"/>
                    <a:pt x="30867" y="41110"/>
                    <a:pt x="47801" y="29698"/>
                  </a:cubicBezTo>
                  <a:lnTo>
                    <a:pt x="59062" y="22110"/>
                  </a:lnTo>
                  <a:cubicBezTo>
                    <a:pt x="72789" y="12860"/>
                    <a:pt x="88356" y="6693"/>
                    <a:pt x="104694" y="4035"/>
                  </a:cubicBezTo>
                  <a:lnTo>
                    <a:pt x="104694" y="4035"/>
                  </a:lnTo>
                  <a:cubicBezTo>
                    <a:pt x="121199" y="1349"/>
                    <a:pt x="137894" y="0"/>
                    <a:pt x="154616" y="0"/>
                  </a:cubicBezTo>
                  <a:lnTo>
                    <a:pt x="11317079" y="0"/>
                  </a:lnTo>
                  <a:cubicBezTo>
                    <a:pt x="11341671" y="0"/>
                    <a:pt x="11366170" y="2995"/>
                    <a:pt x="11390037" y="8919"/>
                  </a:cubicBezTo>
                  <a:lnTo>
                    <a:pt x="11393215" y="9708"/>
                  </a:lnTo>
                  <a:cubicBezTo>
                    <a:pt x="11414648" y="15028"/>
                    <a:pt x="11434229" y="26079"/>
                    <a:pt x="11449862" y="41676"/>
                  </a:cubicBezTo>
                  <a:lnTo>
                    <a:pt x="11458944" y="50737"/>
                  </a:lnTo>
                  <a:cubicBezTo>
                    <a:pt x="11468629" y="60400"/>
                    <a:pt x="11475457" y="72550"/>
                    <a:pt x="11478675" y="85847"/>
                  </a:cubicBezTo>
                  <a:lnTo>
                    <a:pt x="11478675" y="85847"/>
                  </a:lnTo>
                  <a:cubicBezTo>
                    <a:pt x="11481943" y="99355"/>
                    <a:pt x="11483595" y="113204"/>
                    <a:pt x="11483595" y="127102"/>
                  </a:cubicBezTo>
                  <a:lnTo>
                    <a:pt x="11483595" y="5950515"/>
                  </a:lnTo>
                  <a:cubicBezTo>
                    <a:pt x="11483595" y="5971289"/>
                    <a:pt x="11479912" y="5991900"/>
                    <a:pt x="11472718" y="6011389"/>
                  </a:cubicBezTo>
                  <a:lnTo>
                    <a:pt x="11472718" y="6011389"/>
                  </a:lnTo>
                  <a:cubicBezTo>
                    <a:pt x="11465646" y="6030546"/>
                    <a:pt x="11452729" y="6046994"/>
                    <a:pt x="11435794" y="6058407"/>
                  </a:cubicBezTo>
                  <a:lnTo>
                    <a:pt x="11424533" y="6065995"/>
                  </a:lnTo>
                  <a:cubicBezTo>
                    <a:pt x="11410807" y="6075245"/>
                    <a:pt x="11395239" y="6081412"/>
                    <a:pt x="11378901" y="6084070"/>
                  </a:cubicBezTo>
                  <a:lnTo>
                    <a:pt x="11378901" y="6084070"/>
                  </a:lnTo>
                  <a:cubicBezTo>
                    <a:pt x="11362396" y="6086756"/>
                    <a:pt x="11345701" y="6088105"/>
                    <a:pt x="11328979" y="6088105"/>
                  </a:cubicBezTo>
                  <a:close/>
                </a:path>
              </a:pathLst>
            </a:custGeom>
            <a:solidFill>
              <a:srgbClr val="006FBF">
                <a:alpha val="0"/>
              </a:srgbClr>
            </a:solid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941459" y="-48039"/>
            <a:ext cx="2346541" cy="1184596"/>
            <a:chOff x="0" y="0"/>
            <a:chExt cx="3128721" cy="15794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28772" cy="1579499"/>
            </a:xfrm>
            <a:custGeom>
              <a:avLst/>
              <a:gdLst/>
              <a:ahLst/>
              <a:cxnLst/>
              <a:rect r="r" b="b" t="t" l="l"/>
              <a:pathLst>
                <a:path h="1579499" w="3128772">
                  <a:moveTo>
                    <a:pt x="0" y="0"/>
                  </a:moveTo>
                  <a:lnTo>
                    <a:pt x="3128772" y="0"/>
                  </a:lnTo>
                  <a:lnTo>
                    <a:pt x="3128772" y="1579499"/>
                  </a:lnTo>
                  <a:lnTo>
                    <a:pt x="0" y="157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42" r="1" b="-34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729222" y="4849285"/>
            <a:ext cx="12829556" cy="588430"/>
          </a:xfrm>
          <a:custGeom>
            <a:avLst/>
            <a:gdLst/>
            <a:ahLst/>
            <a:cxnLst/>
            <a:rect r="r" b="b" t="t" l="l"/>
            <a:pathLst>
              <a:path h="588430" w="12829556">
                <a:moveTo>
                  <a:pt x="0" y="0"/>
                </a:moveTo>
                <a:lnTo>
                  <a:pt x="12829556" y="0"/>
                </a:lnTo>
                <a:lnTo>
                  <a:pt x="12829556" y="588430"/>
                </a:lnTo>
                <a:lnTo>
                  <a:pt x="0" y="588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1762" y="1117921"/>
            <a:ext cx="8504558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 spc="-49">
                <a:solidFill>
                  <a:srgbClr val="004A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FEASIBILITY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13452" y="9836229"/>
            <a:ext cx="323212" cy="39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5"/>
              </a:lnSpc>
            </a:pPr>
            <a:r>
              <a:rPr lang="en-US" b="true" sz="3300" spc="-4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name="TextBox 13" id="13" descr="$PPTXTitle"/>
          <p:cNvSpPr txBox="true"/>
          <p:nvPr/>
        </p:nvSpPr>
        <p:spPr>
          <a:xfrm rot="0">
            <a:off x="4946228" y="194215"/>
            <a:ext cx="8395543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4199" spc="-3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 E A S I B I L I T Y  A N D  V I A B I L I T 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51401" y="1194121"/>
            <a:ext cx="8206102" cy="83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999">
                <a:solidFill>
                  <a:srgbClr val="004A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VIABILITY</a:t>
            </a:r>
          </a:p>
          <a:p>
            <a:pPr algn="l">
              <a:lnSpc>
                <a:spcPts val="315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776018" y="9731454"/>
            <a:ext cx="3210520" cy="102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@Byte-Brawlers</a:t>
            </a:r>
          </a:p>
          <a:p>
            <a:pPr algn="ctr">
              <a:lnSpc>
                <a:spcPts val="387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66208" y="1837628"/>
            <a:ext cx="8394927" cy="159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 spc="-3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Technical And Operational: </a:t>
            </a:r>
            <a:r>
              <a:rPr lang="en-US" sz="2100" spc="-3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lightweight stack — Tesseract OCR +   Regex Engine — can run offline from any phone camera.</a:t>
            </a:r>
          </a:p>
          <a:p>
            <a:pPr algn="just">
              <a:lnSpc>
                <a:spcPts val="3120"/>
              </a:lnSpc>
              <a:spcBef>
                <a:spcPct val="0"/>
              </a:spcBef>
            </a:pPr>
          </a:p>
          <a:p>
            <a:pPr algn="ctr">
              <a:lnSpc>
                <a:spcPts val="3546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86875" y="3031795"/>
            <a:ext cx="8285297" cy="72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Offline, minimal running cost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Regex patterns are deterministic and predictable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6208" y="4121562"/>
            <a:ext cx="8285297" cy="7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Regulatory gr</a:t>
            </a:r>
            <a:r>
              <a:rPr lang="en-US" b="true" sz="20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ounding:</a:t>
            </a:r>
            <a:r>
              <a:rPr lang="en-US" sz="20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Rule engine codes Legal Metrology (Packaged Commodities) Rules, 2011 directly — no interpretation gap.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97753" y="2882632"/>
            <a:ext cx="8415699" cy="7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</a:t>
            </a:r>
            <a:r>
              <a:rPr lang="en-US" b="true" sz="20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olicy &amp; Revenue</a:t>
            </a:r>
            <a:r>
              <a:rPr lang="en-US" sz="20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Fits Digital India, Ease of Doing Business, revenue from government licensing and enterprise self-compliance SaaS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75638" y="1643701"/>
            <a:ext cx="8284531" cy="7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Market Ready:</a:t>
            </a:r>
            <a:r>
              <a:rPr lang="en-US" sz="20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10 Core rules cover 95% of common violations ; Real enforcement identified and validated.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51401" y="4121562"/>
            <a:ext cx="8333006" cy="7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Investment &amp; ROI</a:t>
            </a:r>
            <a:r>
              <a:rPr lang="en-US" sz="20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Minimal</a:t>
            </a:r>
            <a:r>
              <a:rPr lang="en-US" sz="20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setup cost; cuts per-label inspection time upto 70%.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01762" y="5728368"/>
            <a:ext cx="8681967" cy="3890405"/>
            <a:chOff x="0" y="0"/>
            <a:chExt cx="11484204" cy="51460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83595" cy="5145823"/>
            </a:xfrm>
            <a:custGeom>
              <a:avLst/>
              <a:gdLst/>
              <a:ahLst/>
              <a:cxnLst/>
              <a:rect r="r" b="b" t="t" l="l"/>
              <a:pathLst>
                <a:path h="5145823" w="11483595">
                  <a:moveTo>
                    <a:pt x="11329072" y="5145823"/>
                  </a:moveTo>
                  <a:lnTo>
                    <a:pt x="142211" y="5145823"/>
                  </a:lnTo>
                  <a:cubicBezTo>
                    <a:pt x="133734" y="5145823"/>
                    <a:pt x="125259" y="5145538"/>
                    <a:pt x="116802" y="5144970"/>
                  </a:cubicBezTo>
                  <a:lnTo>
                    <a:pt x="116802" y="5144970"/>
                  </a:lnTo>
                  <a:cubicBezTo>
                    <a:pt x="108386" y="5144405"/>
                    <a:pt x="100096" y="5142625"/>
                    <a:pt x="92189" y="5139687"/>
                  </a:cubicBezTo>
                  <a:lnTo>
                    <a:pt x="65117" y="5129626"/>
                  </a:lnTo>
                  <a:cubicBezTo>
                    <a:pt x="47355" y="5123025"/>
                    <a:pt x="31796" y="5111584"/>
                    <a:pt x="20201" y="5096597"/>
                  </a:cubicBezTo>
                  <a:lnTo>
                    <a:pt x="7895" y="5080690"/>
                  </a:lnTo>
                  <a:cubicBezTo>
                    <a:pt x="4334" y="5076087"/>
                    <a:pt x="2036" y="5070635"/>
                    <a:pt x="1230" y="5064871"/>
                  </a:cubicBezTo>
                  <a:lnTo>
                    <a:pt x="1230" y="5064871"/>
                  </a:lnTo>
                  <a:cubicBezTo>
                    <a:pt x="411" y="5059015"/>
                    <a:pt x="0" y="5053109"/>
                    <a:pt x="0" y="5047195"/>
                  </a:cubicBezTo>
                  <a:lnTo>
                    <a:pt x="0" y="116924"/>
                  </a:lnTo>
                  <a:cubicBezTo>
                    <a:pt x="0" y="98999"/>
                    <a:pt x="3703" y="81268"/>
                    <a:pt x="10877" y="64842"/>
                  </a:cubicBezTo>
                  <a:lnTo>
                    <a:pt x="10877" y="64842"/>
                  </a:lnTo>
                  <a:cubicBezTo>
                    <a:pt x="17939" y="48673"/>
                    <a:pt x="30038" y="35219"/>
                    <a:pt x="45369" y="26487"/>
                  </a:cubicBezTo>
                  <a:lnTo>
                    <a:pt x="58146" y="19209"/>
                  </a:lnTo>
                  <a:cubicBezTo>
                    <a:pt x="72514" y="11026"/>
                    <a:pt x="88313" y="5663"/>
                    <a:pt x="104694" y="3410"/>
                  </a:cubicBezTo>
                  <a:lnTo>
                    <a:pt x="104694" y="3410"/>
                  </a:lnTo>
                  <a:cubicBezTo>
                    <a:pt x="121207" y="1139"/>
                    <a:pt x="137855" y="0"/>
                    <a:pt x="154523" y="0"/>
                  </a:cubicBezTo>
                  <a:lnTo>
                    <a:pt x="11317387" y="0"/>
                  </a:lnTo>
                  <a:cubicBezTo>
                    <a:pt x="11341799" y="0"/>
                    <a:pt x="11366145" y="2526"/>
                    <a:pt x="11390037" y="7539"/>
                  </a:cubicBezTo>
                  <a:lnTo>
                    <a:pt x="11395384" y="8660"/>
                  </a:lnTo>
                  <a:cubicBezTo>
                    <a:pt x="11415461" y="12873"/>
                    <a:pt x="11434180" y="22000"/>
                    <a:pt x="11449862" y="35226"/>
                  </a:cubicBezTo>
                  <a:lnTo>
                    <a:pt x="11460088" y="43849"/>
                  </a:lnTo>
                  <a:cubicBezTo>
                    <a:pt x="11468997" y="51362"/>
                    <a:pt x="11475467" y="61357"/>
                    <a:pt x="11478675" y="72560"/>
                  </a:cubicBezTo>
                  <a:lnTo>
                    <a:pt x="11478675" y="72560"/>
                  </a:lnTo>
                  <a:cubicBezTo>
                    <a:pt x="11481939" y="83962"/>
                    <a:pt x="11483595" y="95764"/>
                    <a:pt x="11483595" y="107624"/>
                  </a:cubicBezTo>
                  <a:lnTo>
                    <a:pt x="11483595" y="5028900"/>
                  </a:lnTo>
                  <a:cubicBezTo>
                    <a:pt x="11483595" y="5046824"/>
                    <a:pt x="11479892" y="5064555"/>
                    <a:pt x="11472718" y="5080981"/>
                  </a:cubicBezTo>
                  <a:lnTo>
                    <a:pt x="11472718" y="5080981"/>
                  </a:lnTo>
                  <a:cubicBezTo>
                    <a:pt x="11465656" y="5097150"/>
                    <a:pt x="11453557" y="5110603"/>
                    <a:pt x="11438226" y="5119336"/>
                  </a:cubicBezTo>
                  <a:lnTo>
                    <a:pt x="11425449" y="5126613"/>
                  </a:lnTo>
                  <a:cubicBezTo>
                    <a:pt x="11411081" y="5134797"/>
                    <a:pt x="11395282" y="5140160"/>
                    <a:pt x="11378901" y="5142412"/>
                  </a:cubicBezTo>
                  <a:lnTo>
                    <a:pt x="11378901" y="5142412"/>
                  </a:lnTo>
                  <a:cubicBezTo>
                    <a:pt x="11362389" y="5144683"/>
                    <a:pt x="11345740" y="5145823"/>
                    <a:pt x="11329072" y="5145823"/>
                  </a:cubicBezTo>
                  <a:close/>
                </a:path>
              </a:pathLst>
            </a:custGeom>
            <a:solidFill>
              <a:srgbClr val="006FBF">
                <a:alpha val="0"/>
              </a:srgbClr>
            </a:solid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3214169" y="5871243"/>
            <a:ext cx="2570113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4A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STRENGHTS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72113" y="5748036"/>
            <a:ext cx="8613153" cy="3870736"/>
            <a:chOff x="0" y="0"/>
            <a:chExt cx="11484204" cy="51609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83595" cy="5160711"/>
            </a:xfrm>
            <a:custGeom>
              <a:avLst/>
              <a:gdLst/>
              <a:ahLst/>
              <a:cxnLst/>
              <a:rect r="r" b="b" t="t" l="l"/>
              <a:pathLst>
                <a:path h="5160711" w="11483595">
                  <a:moveTo>
                    <a:pt x="11329071" y="5160711"/>
                  </a:moveTo>
                  <a:lnTo>
                    <a:pt x="142211" y="5160711"/>
                  </a:lnTo>
                  <a:cubicBezTo>
                    <a:pt x="133734" y="5160711"/>
                    <a:pt x="125259" y="5160426"/>
                    <a:pt x="116802" y="5159856"/>
                  </a:cubicBezTo>
                  <a:lnTo>
                    <a:pt x="116802" y="5159856"/>
                  </a:lnTo>
                  <a:cubicBezTo>
                    <a:pt x="108386" y="5159289"/>
                    <a:pt x="100097" y="5157505"/>
                    <a:pt x="92193" y="5154559"/>
                  </a:cubicBezTo>
                  <a:lnTo>
                    <a:pt x="65157" y="5144482"/>
                  </a:lnTo>
                  <a:cubicBezTo>
                    <a:pt x="47369" y="5137853"/>
                    <a:pt x="31795" y="5126373"/>
                    <a:pt x="20201" y="5111343"/>
                  </a:cubicBezTo>
                  <a:lnTo>
                    <a:pt x="7900" y="5095398"/>
                  </a:lnTo>
                  <a:cubicBezTo>
                    <a:pt x="4335" y="5090776"/>
                    <a:pt x="2036" y="5085306"/>
                    <a:pt x="1230" y="5079525"/>
                  </a:cubicBezTo>
                  <a:lnTo>
                    <a:pt x="1230" y="5079525"/>
                  </a:lnTo>
                  <a:cubicBezTo>
                    <a:pt x="411" y="5073652"/>
                    <a:pt x="0" y="5067729"/>
                    <a:pt x="0" y="5061798"/>
                  </a:cubicBezTo>
                  <a:lnTo>
                    <a:pt x="0" y="117249"/>
                  </a:lnTo>
                  <a:cubicBezTo>
                    <a:pt x="0" y="99280"/>
                    <a:pt x="3703" y="81504"/>
                    <a:pt x="10877" y="65030"/>
                  </a:cubicBezTo>
                  <a:lnTo>
                    <a:pt x="10877" y="65030"/>
                  </a:lnTo>
                  <a:cubicBezTo>
                    <a:pt x="17939" y="48814"/>
                    <a:pt x="30052" y="35313"/>
                    <a:pt x="45410" y="26540"/>
                  </a:cubicBezTo>
                  <a:lnTo>
                    <a:pt x="58160" y="19257"/>
                  </a:lnTo>
                  <a:cubicBezTo>
                    <a:pt x="72518" y="11055"/>
                    <a:pt x="88314" y="5680"/>
                    <a:pt x="104694" y="3420"/>
                  </a:cubicBezTo>
                  <a:lnTo>
                    <a:pt x="104694" y="3420"/>
                  </a:lnTo>
                  <a:cubicBezTo>
                    <a:pt x="121207" y="1143"/>
                    <a:pt x="137856" y="0"/>
                    <a:pt x="154524" y="0"/>
                  </a:cubicBezTo>
                  <a:lnTo>
                    <a:pt x="11317383" y="0"/>
                  </a:lnTo>
                  <a:cubicBezTo>
                    <a:pt x="11341797" y="0"/>
                    <a:pt x="11366146" y="2534"/>
                    <a:pt x="11390037" y="7561"/>
                  </a:cubicBezTo>
                  <a:lnTo>
                    <a:pt x="11395350" y="8679"/>
                  </a:lnTo>
                  <a:cubicBezTo>
                    <a:pt x="11415449" y="12907"/>
                    <a:pt x="11434180" y="22065"/>
                    <a:pt x="11449862" y="35328"/>
                  </a:cubicBezTo>
                  <a:lnTo>
                    <a:pt x="11460068" y="43959"/>
                  </a:lnTo>
                  <a:cubicBezTo>
                    <a:pt x="11468990" y="51505"/>
                    <a:pt x="11475467" y="61534"/>
                    <a:pt x="11478675" y="72770"/>
                  </a:cubicBezTo>
                  <a:lnTo>
                    <a:pt x="11478675" y="72770"/>
                  </a:lnTo>
                  <a:cubicBezTo>
                    <a:pt x="11481939" y="84206"/>
                    <a:pt x="11483595" y="96040"/>
                    <a:pt x="11483595" y="107932"/>
                  </a:cubicBezTo>
                  <a:lnTo>
                    <a:pt x="11483595" y="5043462"/>
                  </a:lnTo>
                  <a:cubicBezTo>
                    <a:pt x="11483595" y="5061431"/>
                    <a:pt x="11479892" y="5079207"/>
                    <a:pt x="11472718" y="5095681"/>
                  </a:cubicBezTo>
                  <a:lnTo>
                    <a:pt x="11472718" y="5095681"/>
                  </a:lnTo>
                  <a:cubicBezTo>
                    <a:pt x="11465656" y="5111897"/>
                    <a:pt x="11453544" y="5125398"/>
                    <a:pt x="11438186" y="5134171"/>
                  </a:cubicBezTo>
                  <a:lnTo>
                    <a:pt x="11425434" y="5141454"/>
                  </a:lnTo>
                  <a:cubicBezTo>
                    <a:pt x="11411077" y="5149656"/>
                    <a:pt x="11395281" y="5155032"/>
                    <a:pt x="11378901" y="5157291"/>
                  </a:cubicBezTo>
                  <a:lnTo>
                    <a:pt x="11378901" y="5157291"/>
                  </a:lnTo>
                  <a:cubicBezTo>
                    <a:pt x="11362389" y="5159568"/>
                    <a:pt x="11345739" y="5160711"/>
                    <a:pt x="11329071" y="5160711"/>
                  </a:cubicBezTo>
                  <a:close/>
                </a:path>
              </a:pathLst>
            </a:custGeom>
            <a:solidFill>
              <a:srgbClr val="006FBF">
                <a:alpha val="0"/>
              </a:srgbClr>
            </a:solid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375638" y="6082781"/>
            <a:ext cx="8248412" cy="55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4A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POTENTIAL </a:t>
            </a:r>
            <a:r>
              <a:rPr lang="en-US" b="true" sz="3000">
                <a:solidFill>
                  <a:srgbClr val="004A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CHALLENGES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56780" y="6773344"/>
            <a:ext cx="8169983" cy="268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OCR Accuracy Limitations: </a:t>
            </a: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Struggle with rotated text, low resolution images.</a:t>
            </a:r>
          </a:p>
          <a:p>
            <a:pPr algn="l">
              <a:lnSpc>
                <a:spcPts val="2940"/>
              </a:lnSpc>
            </a:pP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Regex Pattern Brittleness: </a:t>
            </a: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Manual pattern writing doesnt capture all label variations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Language Limitations: </a:t>
            </a: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Currently English only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1762" y="6532880"/>
            <a:ext cx="8573399" cy="281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 ML Uncertainty: 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Regex and compliance rules always produce consistent results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Fast perfomance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&lt;1 second per label vs 10 min manual inspection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Offline capability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hence no data send to extrnal services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11327" y="1065752"/>
            <a:ext cx="8613153" cy="4566318"/>
            <a:chOff x="0" y="0"/>
            <a:chExt cx="11484204" cy="60884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83595" cy="6088105"/>
            </a:xfrm>
            <a:custGeom>
              <a:avLst/>
              <a:gdLst/>
              <a:ahLst/>
              <a:cxnLst/>
              <a:rect r="r" b="b" t="t" l="l"/>
              <a:pathLst>
                <a:path h="6088105" w="11483595">
                  <a:moveTo>
                    <a:pt x="11328979" y="6088105"/>
                  </a:moveTo>
                  <a:lnTo>
                    <a:pt x="142222" y="6088105"/>
                  </a:lnTo>
                  <a:cubicBezTo>
                    <a:pt x="133739" y="6088105"/>
                    <a:pt x="125258" y="6087768"/>
                    <a:pt x="116802" y="6087096"/>
                  </a:cubicBezTo>
                  <a:lnTo>
                    <a:pt x="116802" y="6087096"/>
                  </a:lnTo>
                  <a:cubicBezTo>
                    <a:pt x="108401" y="6086428"/>
                    <a:pt x="100172" y="6084355"/>
                    <a:pt x="92458" y="6080964"/>
                  </a:cubicBezTo>
                  <a:lnTo>
                    <a:pt x="67614" y="6070040"/>
                  </a:lnTo>
                  <a:cubicBezTo>
                    <a:pt x="48250" y="6061527"/>
                    <a:pt x="31778" y="6047568"/>
                    <a:pt x="20201" y="6029865"/>
                  </a:cubicBezTo>
                  <a:lnTo>
                    <a:pt x="8195" y="6011505"/>
                  </a:lnTo>
                  <a:cubicBezTo>
                    <a:pt x="4423" y="6005737"/>
                    <a:pt x="2039" y="5999174"/>
                    <a:pt x="1230" y="5992330"/>
                  </a:cubicBezTo>
                  <a:lnTo>
                    <a:pt x="1230" y="5992330"/>
                  </a:lnTo>
                  <a:cubicBezTo>
                    <a:pt x="411" y="5985398"/>
                    <a:pt x="0" y="5978425"/>
                    <a:pt x="0" y="5971445"/>
                  </a:cubicBezTo>
                  <a:lnTo>
                    <a:pt x="0" y="137590"/>
                  </a:lnTo>
                  <a:cubicBezTo>
                    <a:pt x="0" y="116815"/>
                    <a:pt x="3683" y="96205"/>
                    <a:pt x="10877" y="76716"/>
                  </a:cubicBezTo>
                  <a:lnTo>
                    <a:pt x="10877" y="76716"/>
                  </a:lnTo>
                  <a:cubicBezTo>
                    <a:pt x="17949" y="57559"/>
                    <a:pt x="30867" y="41110"/>
                    <a:pt x="47801" y="29698"/>
                  </a:cubicBezTo>
                  <a:lnTo>
                    <a:pt x="59062" y="22110"/>
                  </a:lnTo>
                  <a:cubicBezTo>
                    <a:pt x="72789" y="12860"/>
                    <a:pt x="88356" y="6693"/>
                    <a:pt x="104694" y="4035"/>
                  </a:cubicBezTo>
                  <a:lnTo>
                    <a:pt x="104694" y="4035"/>
                  </a:lnTo>
                  <a:cubicBezTo>
                    <a:pt x="121199" y="1349"/>
                    <a:pt x="137894" y="0"/>
                    <a:pt x="154616" y="0"/>
                  </a:cubicBezTo>
                  <a:lnTo>
                    <a:pt x="11317079" y="0"/>
                  </a:lnTo>
                  <a:cubicBezTo>
                    <a:pt x="11341671" y="0"/>
                    <a:pt x="11366170" y="2995"/>
                    <a:pt x="11390037" y="8919"/>
                  </a:cubicBezTo>
                  <a:lnTo>
                    <a:pt x="11393215" y="9708"/>
                  </a:lnTo>
                  <a:cubicBezTo>
                    <a:pt x="11414648" y="15028"/>
                    <a:pt x="11434229" y="26079"/>
                    <a:pt x="11449862" y="41676"/>
                  </a:cubicBezTo>
                  <a:lnTo>
                    <a:pt x="11458944" y="50737"/>
                  </a:lnTo>
                  <a:cubicBezTo>
                    <a:pt x="11468629" y="60400"/>
                    <a:pt x="11475457" y="72550"/>
                    <a:pt x="11478675" y="85847"/>
                  </a:cubicBezTo>
                  <a:lnTo>
                    <a:pt x="11478675" y="85847"/>
                  </a:lnTo>
                  <a:cubicBezTo>
                    <a:pt x="11481943" y="99355"/>
                    <a:pt x="11483595" y="113204"/>
                    <a:pt x="11483595" y="127102"/>
                  </a:cubicBezTo>
                  <a:lnTo>
                    <a:pt x="11483595" y="5950515"/>
                  </a:lnTo>
                  <a:cubicBezTo>
                    <a:pt x="11483595" y="5971289"/>
                    <a:pt x="11479912" y="5991900"/>
                    <a:pt x="11472718" y="6011389"/>
                  </a:cubicBezTo>
                  <a:lnTo>
                    <a:pt x="11472718" y="6011389"/>
                  </a:lnTo>
                  <a:cubicBezTo>
                    <a:pt x="11465646" y="6030546"/>
                    <a:pt x="11452729" y="6046994"/>
                    <a:pt x="11435794" y="6058407"/>
                  </a:cubicBezTo>
                  <a:lnTo>
                    <a:pt x="11424533" y="6065995"/>
                  </a:lnTo>
                  <a:cubicBezTo>
                    <a:pt x="11410807" y="6075245"/>
                    <a:pt x="11395239" y="6081412"/>
                    <a:pt x="11378901" y="6084070"/>
                  </a:cubicBezTo>
                  <a:lnTo>
                    <a:pt x="11378901" y="6084070"/>
                  </a:lnTo>
                  <a:cubicBezTo>
                    <a:pt x="11362396" y="6086756"/>
                    <a:pt x="11345701" y="6088105"/>
                    <a:pt x="11328979" y="6088105"/>
                  </a:cubicBezTo>
                  <a:close/>
                </a:path>
              </a:pathLst>
            </a:custGeom>
            <a:solidFill>
              <a:srgbClr val="006FBF">
                <a:alpha val="0"/>
              </a:srgbClr>
            </a:solid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45420" y="2223701"/>
            <a:ext cx="6309852" cy="5825346"/>
          </a:xfrm>
          <a:custGeom>
            <a:avLst/>
            <a:gdLst/>
            <a:ahLst/>
            <a:cxnLst/>
            <a:rect r="r" b="b" t="t" l="l"/>
            <a:pathLst>
              <a:path h="5825346" w="6309852">
                <a:moveTo>
                  <a:pt x="0" y="0"/>
                </a:moveTo>
                <a:lnTo>
                  <a:pt x="6309851" y="0"/>
                </a:lnTo>
                <a:lnTo>
                  <a:pt x="6309851" y="5825346"/>
                </a:lnTo>
                <a:lnTo>
                  <a:pt x="0" y="5825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468" t="-61230" r="-234983" b="-6205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788604"/>
            <a:ext cx="18288000" cy="498396"/>
            <a:chOff x="0" y="0"/>
            <a:chExt cx="18288000" cy="4983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288000" cy="498352"/>
            </a:xfrm>
            <a:custGeom>
              <a:avLst/>
              <a:gdLst/>
              <a:ahLst/>
              <a:cxnLst/>
              <a:rect r="r" b="b" t="t" l="l"/>
              <a:pathLst>
                <a:path h="498352" w="18288000">
                  <a:moveTo>
                    <a:pt x="0" y="0"/>
                  </a:moveTo>
                  <a:lnTo>
                    <a:pt x="0" y="498352"/>
                  </a:lnTo>
                  <a:lnTo>
                    <a:pt x="18288000" y="49835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250251" y="0"/>
            <a:ext cx="2037730" cy="1028700"/>
            <a:chOff x="0" y="0"/>
            <a:chExt cx="3128721" cy="1579461"/>
          </a:xfrm>
        </p:grpSpPr>
        <p:sp>
          <p:nvSpPr>
            <p:cNvPr name="Freeform 6" id="6" descr="https://www.sih.gov.in/img1/SIH-Logo.png"/>
            <p:cNvSpPr/>
            <p:nvPr/>
          </p:nvSpPr>
          <p:spPr>
            <a:xfrm flipH="false" flipV="false" rot="0">
              <a:off x="0" y="0"/>
              <a:ext cx="3128772" cy="1579499"/>
            </a:xfrm>
            <a:custGeom>
              <a:avLst/>
              <a:gdLst/>
              <a:ahLst/>
              <a:cxnLst/>
              <a:rect r="r" b="b" t="t" l="l"/>
              <a:pathLst>
                <a:path h="1579499" w="3128772">
                  <a:moveTo>
                    <a:pt x="0" y="0"/>
                  </a:moveTo>
                  <a:lnTo>
                    <a:pt x="3128772" y="0"/>
                  </a:lnTo>
                  <a:lnTo>
                    <a:pt x="3128772" y="1579499"/>
                  </a:lnTo>
                  <a:lnTo>
                    <a:pt x="0" y="157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86" r="-68" b="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5400000">
            <a:off x="7226354" y="4787713"/>
            <a:ext cx="7315200" cy="146304"/>
          </a:xfrm>
          <a:custGeom>
            <a:avLst/>
            <a:gdLst/>
            <a:ahLst/>
            <a:cxnLst/>
            <a:rect r="r" b="b" t="t" l="l"/>
            <a:pathLst>
              <a:path h="146304" w="7315200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769307" y="9733207"/>
            <a:ext cx="238830" cy="55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2"/>
              </a:lnSpc>
            </a:pPr>
            <a:r>
              <a:rPr lang="en-US" b="true" sz="3315" spc="-4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29834" y="146047"/>
            <a:ext cx="5793820" cy="66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86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IMPACTS &amp; BENEFITS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11033" y="1155640"/>
            <a:ext cx="68370" cy="33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6050" y="3395171"/>
            <a:ext cx="2931056" cy="80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462" indent="-248231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 &amp; C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ost-Free Operation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71396" y="4994744"/>
            <a:ext cx="2785710" cy="80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462" indent="-248231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R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ule-Cited Transparency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6003" y="2416544"/>
            <a:ext cx="4270635" cy="75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162" indent="-235081" lvl="1">
              <a:lnSpc>
                <a:spcPts val="3048"/>
              </a:lnSpc>
              <a:buFont typeface="Arial"/>
              <a:buChar char="•"/>
            </a:pPr>
            <a:r>
              <a:rPr lang="en-US" sz="217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lang="en-US" sz="217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uced Manual Inspection Time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9398" y="3395171"/>
            <a:ext cx="2427719" cy="120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462" indent="-248231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Violation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9398" y="4994744"/>
            <a:ext cx="2554248" cy="120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462" indent="-248231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onsumer Harm Reduction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6003" y="6858588"/>
            <a:ext cx="3011042" cy="80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462" indent="-248231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Wide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Enforcement Reach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04255" y="2157026"/>
            <a:ext cx="3695931" cy="80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462" indent="-248231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rministic, Auditable Verdicts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02635" y="6658563"/>
            <a:ext cx="2797551" cy="120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462" indent="-248231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alable Across States &amp; E-Commerce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4255" y="9723682"/>
            <a:ext cx="303121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@Byte-B</a:t>
            </a:r>
            <a:r>
              <a:rPr lang="en-US" b="true" sz="30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rawlers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166656" y="982940"/>
            <a:ext cx="7010747" cy="3620649"/>
            <a:chOff x="0" y="0"/>
            <a:chExt cx="9347663" cy="48275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47168" cy="4827279"/>
            </a:xfrm>
            <a:custGeom>
              <a:avLst/>
              <a:gdLst/>
              <a:ahLst/>
              <a:cxnLst/>
              <a:rect r="r" b="b" t="t" l="l"/>
              <a:pathLst>
                <a:path h="4827279" w="9347168">
                  <a:moveTo>
                    <a:pt x="9221330" y="4827279"/>
                  </a:moveTo>
                  <a:lnTo>
                    <a:pt x="115761" y="4827279"/>
                  </a:lnTo>
                  <a:cubicBezTo>
                    <a:pt x="108857" y="4827279"/>
                    <a:pt x="101955" y="4827012"/>
                    <a:pt x="95072" y="4826479"/>
                  </a:cubicBezTo>
                  <a:lnTo>
                    <a:pt x="95072" y="4826479"/>
                  </a:lnTo>
                  <a:cubicBezTo>
                    <a:pt x="88232" y="4825949"/>
                    <a:pt x="81525" y="4824301"/>
                    <a:pt x="75219" y="4821600"/>
                  </a:cubicBezTo>
                  <a:lnTo>
                    <a:pt x="54698" y="4812811"/>
                  </a:lnTo>
                  <a:cubicBezTo>
                    <a:pt x="39154" y="4806153"/>
                    <a:pt x="25868" y="4795140"/>
                    <a:pt x="16443" y="4781100"/>
                  </a:cubicBezTo>
                  <a:lnTo>
                    <a:pt x="6635" y="4766490"/>
                  </a:lnTo>
                  <a:cubicBezTo>
                    <a:pt x="3590" y="4761954"/>
                    <a:pt x="1660" y="4756762"/>
                    <a:pt x="1001" y="4751338"/>
                  </a:cubicBezTo>
                  <a:lnTo>
                    <a:pt x="1001" y="4751338"/>
                  </a:lnTo>
                  <a:cubicBezTo>
                    <a:pt x="334" y="4745843"/>
                    <a:pt x="0" y="4740312"/>
                    <a:pt x="0" y="4734776"/>
                  </a:cubicBezTo>
                  <a:lnTo>
                    <a:pt x="0" y="109176"/>
                  </a:lnTo>
                  <a:cubicBezTo>
                    <a:pt x="0" y="92657"/>
                    <a:pt x="3000" y="76275"/>
                    <a:pt x="8854" y="60828"/>
                  </a:cubicBezTo>
                  <a:lnTo>
                    <a:pt x="8854" y="60828"/>
                  </a:lnTo>
                  <a:cubicBezTo>
                    <a:pt x="14608" y="45643"/>
                    <a:pt x="25018" y="32666"/>
                    <a:pt x="38594" y="23754"/>
                  </a:cubicBezTo>
                  <a:lnTo>
                    <a:pt x="47948" y="17613"/>
                  </a:lnTo>
                  <a:cubicBezTo>
                    <a:pt x="59209" y="10221"/>
                    <a:pt x="71913" y="5308"/>
                    <a:pt x="85217" y="3199"/>
                  </a:cubicBezTo>
                  <a:lnTo>
                    <a:pt x="85217" y="3199"/>
                  </a:lnTo>
                  <a:cubicBezTo>
                    <a:pt x="98652" y="1070"/>
                    <a:pt x="112234" y="0"/>
                    <a:pt x="125837" y="0"/>
                  </a:cubicBezTo>
                  <a:lnTo>
                    <a:pt x="9211676" y="0"/>
                  </a:lnTo>
                  <a:cubicBezTo>
                    <a:pt x="9231666" y="0"/>
                    <a:pt x="9251585" y="2374"/>
                    <a:pt x="9271016" y="7072"/>
                  </a:cubicBezTo>
                  <a:lnTo>
                    <a:pt x="9273905" y="7771"/>
                  </a:lnTo>
                  <a:cubicBezTo>
                    <a:pt x="9291161" y="11943"/>
                    <a:pt x="9306980" y="20672"/>
                    <a:pt x="9319711" y="33045"/>
                  </a:cubicBezTo>
                  <a:lnTo>
                    <a:pt x="9327244" y="40367"/>
                  </a:lnTo>
                  <a:cubicBezTo>
                    <a:pt x="9335031" y="47935"/>
                    <a:pt x="9340545" y="57531"/>
                    <a:pt x="9343163" y="68069"/>
                  </a:cubicBezTo>
                  <a:lnTo>
                    <a:pt x="9343163" y="68069"/>
                  </a:lnTo>
                  <a:cubicBezTo>
                    <a:pt x="9345823" y="78777"/>
                    <a:pt x="9347168" y="89770"/>
                    <a:pt x="9347168" y="100804"/>
                  </a:cubicBezTo>
                  <a:lnTo>
                    <a:pt x="9347168" y="4718103"/>
                  </a:lnTo>
                  <a:cubicBezTo>
                    <a:pt x="9347168" y="4734622"/>
                    <a:pt x="9344168" y="4751004"/>
                    <a:pt x="9338314" y="4766451"/>
                  </a:cubicBezTo>
                  <a:lnTo>
                    <a:pt x="9338314" y="4766451"/>
                  </a:lnTo>
                  <a:cubicBezTo>
                    <a:pt x="9332560" y="4781636"/>
                    <a:pt x="9322150" y="4794612"/>
                    <a:pt x="9308574" y="4803524"/>
                  </a:cubicBezTo>
                  <a:lnTo>
                    <a:pt x="9299220" y="4809665"/>
                  </a:lnTo>
                  <a:cubicBezTo>
                    <a:pt x="9287959" y="4817057"/>
                    <a:pt x="9275256" y="4821971"/>
                    <a:pt x="9261952" y="4824080"/>
                  </a:cubicBezTo>
                  <a:lnTo>
                    <a:pt x="9261952" y="4824080"/>
                  </a:lnTo>
                  <a:cubicBezTo>
                    <a:pt x="9248516" y="4826209"/>
                    <a:pt x="9234934" y="4827279"/>
                    <a:pt x="9221330" y="4827279"/>
                  </a:cubicBezTo>
                  <a:close/>
                </a:path>
              </a:pathLst>
            </a:custGeom>
            <a:solidFill>
              <a:srgbClr val="006FBF">
                <a:alpha val="0"/>
              </a:srgbClr>
            </a:solid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166656" y="4803614"/>
            <a:ext cx="7010747" cy="4996268"/>
            <a:chOff x="0" y="0"/>
            <a:chExt cx="9347663" cy="66616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47168" cy="6661342"/>
            </a:xfrm>
            <a:custGeom>
              <a:avLst/>
              <a:gdLst/>
              <a:ahLst/>
              <a:cxnLst/>
              <a:rect r="r" b="b" t="t" l="l"/>
              <a:pathLst>
                <a:path h="6661342" w="9347168">
                  <a:moveTo>
                    <a:pt x="9221105" y="6661342"/>
                  </a:moveTo>
                  <a:lnTo>
                    <a:pt x="115789" y="6661342"/>
                  </a:lnTo>
                  <a:cubicBezTo>
                    <a:pt x="108869" y="6661342"/>
                    <a:pt x="101953" y="6660974"/>
                    <a:pt x="95072" y="6660238"/>
                  </a:cubicBezTo>
                  <a:lnTo>
                    <a:pt x="95072" y="6660238"/>
                  </a:lnTo>
                  <a:cubicBezTo>
                    <a:pt x="88265" y="6659511"/>
                    <a:pt x="81693" y="6657332"/>
                    <a:pt x="75799" y="6653849"/>
                  </a:cubicBezTo>
                  <a:lnTo>
                    <a:pt x="57812" y="6643219"/>
                  </a:lnTo>
                  <a:cubicBezTo>
                    <a:pt x="40248" y="6632837"/>
                    <a:pt x="26124" y="6617519"/>
                    <a:pt x="17198" y="6599172"/>
                  </a:cubicBezTo>
                  <a:lnTo>
                    <a:pt x="7003" y="6578213"/>
                  </a:lnTo>
                  <a:cubicBezTo>
                    <a:pt x="3697" y="6571418"/>
                    <a:pt x="1663" y="6564076"/>
                    <a:pt x="1001" y="6556549"/>
                  </a:cubicBezTo>
                  <a:lnTo>
                    <a:pt x="1001" y="6556549"/>
                  </a:lnTo>
                  <a:cubicBezTo>
                    <a:pt x="334" y="6548962"/>
                    <a:pt x="0" y="6541350"/>
                    <a:pt x="0" y="6533734"/>
                  </a:cubicBezTo>
                  <a:lnTo>
                    <a:pt x="0" y="149612"/>
                  </a:lnTo>
                  <a:cubicBezTo>
                    <a:pt x="0" y="127424"/>
                    <a:pt x="2978" y="105335"/>
                    <a:pt x="8854" y="83939"/>
                  </a:cubicBezTo>
                  <a:lnTo>
                    <a:pt x="9252" y="82487"/>
                  </a:lnTo>
                  <a:cubicBezTo>
                    <a:pt x="14774" y="62380"/>
                    <a:pt x="25916" y="44264"/>
                    <a:pt x="41370" y="30265"/>
                  </a:cubicBezTo>
                  <a:lnTo>
                    <a:pt x="49720" y="22701"/>
                  </a:lnTo>
                  <a:cubicBezTo>
                    <a:pt x="59753" y="13612"/>
                    <a:pt x="71991" y="7308"/>
                    <a:pt x="85217" y="4415"/>
                  </a:cubicBezTo>
                  <a:lnTo>
                    <a:pt x="85217" y="4415"/>
                  </a:lnTo>
                  <a:cubicBezTo>
                    <a:pt x="98634" y="1480"/>
                    <a:pt x="112328" y="0"/>
                    <a:pt x="126062" y="0"/>
                  </a:cubicBezTo>
                  <a:lnTo>
                    <a:pt x="9210933" y="0"/>
                  </a:lnTo>
                  <a:cubicBezTo>
                    <a:pt x="9231355" y="0"/>
                    <a:pt x="9251643" y="3295"/>
                    <a:pt x="9271016" y="9759"/>
                  </a:cubicBezTo>
                  <a:lnTo>
                    <a:pt x="9271016" y="9759"/>
                  </a:lnTo>
                  <a:cubicBezTo>
                    <a:pt x="9290057" y="16112"/>
                    <a:pt x="9306696" y="28145"/>
                    <a:pt x="9318695" y="44237"/>
                  </a:cubicBezTo>
                  <a:lnTo>
                    <a:pt x="9325645" y="53559"/>
                  </a:lnTo>
                  <a:cubicBezTo>
                    <a:pt x="9334532" y="65478"/>
                    <a:pt x="9340528" y="79298"/>
                    <a:pt x="9343163" y="93931"/>
                  </a:cubicBezTo>
                  <a:lnTo>
                    <a:pt x="9343163" y="93931"/>
                  </a:lnTo>
                  <a:cubicBezTo>
                    <a:pt x="9345828" y="108733"/>
                    <a:pt x="9347168" y="123744"/>
                    <a:pt x="9347168" y="138785"/>
                  </a:cubicBezTo>
                  <a:lnTo>
                    <a:pt x="9347168" y="6511730"/>
                  </a:lnTo>
                  <a:cubicBezTo>
                    <a:pt x="9347168" y="6533918"/>
                    <a:pt x="9344190" y="6556007"/>
                    <a:pt x="9338314" y="6577403"/>
                  </a:cubicBezTo>
                  <a:lnTo>
                    <a:pt x="9337916" y="6578854"/>
                  </a:lnTo>
                  <a:cubicBezTo>
                    <a:pt x="9332394" y="6598962"/>
                    <a:pt x="9321252" y="6617078"/>
                    <a:pt x="9305799" y="6631077"/>
                  </a:cubicBezTo>
                  <a:lnTo>
                    <a:pt x="9297449" y="6638641"/>
                  </a:lnTo>
                  <a:cubicBezTo>
                    <a:pt x="9287415" y="6647730"/>
                    <a:pt x="9275177" y="6654035"/>
                    <a:pt x="9261952" y="6656928"/>
                  </a:cubicBezTo>
                  <a:lnTo>
                    <a:pt x="9261952" y="6656928"/>
                  </a:lnTo>
                  <a:cubicBezTo>
                    <a:pt x="9248534" y="6659862"/>
                    <a:pt x="9234839" y="6661342"/>
                    <a:pt x="9221105" y="6661342"/>
                  </a:cubicBezTo>
                  <a:close/>
                </a:path>
              </a:pathLst>
            </a:custGeom>
            <a:solidFill>
              <a:srgbClr val="006FBF">
                <a:alpha val="0"/>
              </a:srgbClr>
            </a:solid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1166656" y="965768"/>
            <a:ext cx="701074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Overcoming Challenges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67049" y="1523734"/>
            <a:ext cx="6809962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mprove OCR</a:t>
            </a: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Accuracy (75-80% → 90%+ ) :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Multi-angle image capture strategy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Cluster-based approach using OpenCV for label region detection</a:t>
            </a:r>
          </a:p>
          <a:p>
            <a:pPr algn="l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1267049" y="3153236"/>
            <a:ext cx="7010747" cy="140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Enhance Pattern Matching: </a:t>
            </a:r>
          </a:p>
          <a:p>
            <a:pPr algn="l" marL="431694" indent="-215847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Fuzzy matching to handle formatting variations</a:t>
            </a:r>
          </a:p>
          <a:p>
            <a:pPr algn="l" marL="431694" indent="-215847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pattern library from real-world label samples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364146" y="4803715"/>
            <a:ext cx="4816555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ture Scope &amp; Improvements</a:t>
            </a:r>
          </a:p>
          <a:p>
            <a:pPr algn="ctr">
              <a:lnSpc>
                <a:spcPts val="363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1267049" y="5298723"/>
            <a:ext cx="6910355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Enhanced Accuracy: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 fuzzy string matching for pattern validation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OpenCV cluster-based approach for OCR post-processing</a:t>
            </a: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1267049" y="7144395"/>
            <a:ext cx="6844399" cy="150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Language &amp; Scale: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 from 10 to 50+ Legal Metrology rules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Hindi + English bilingual support</a:t>
            </a:r>
          </a:p>
          <a:p>
            <a:pPr algn="ctr">
              <a:lnSpc>
                <a:spcPts val="364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1267049" y="8294869"/>
            <a:ext cx="6844399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Premium Option: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Optional Google Vision API integration for critical audits. (We currently avoid it due to cost &amp; latency concerns)</a:t>
            </a:r>
          </a:p>
          <a:p>
            <a:pPr algn="l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88604"/>
            <a:ext cx="18288000" cy="498396"/>
            <a:chOff x="0" y="0"/>
            <a:chExt cx="18288000" cy="4983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98352"/>
            </a:xfrm>
            <a:custGeom>
              <a:avLst/>
              <a:gdLst/>
              <a:ahLst/>
              <a:cxnLst/>
              <a:rect r="r" b="b" t="t" l="l"/>
              <a:pathLst>
                <a:path h="498352" w="18288000">
                  <a:moveTo>
                    <a:pt x="0" y="0"/>
                  </a:moveTo>
                  <a:lnTo>
                    <a:pt x="0" y="498352"/>
                  </a:lnTo>
                  <a:lnTo>
                    <a:pt x="18288000" y="49835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41440" y="0"/>
            <a:ext cx="2346541" cy="1184596"/>
            <a:chOff x="0" y="0"/>
            <a:chExt cx="3128721" cy="1579461"/>
          </a:xfrm>
        </p:grpSpPr>
        <p:sp>
          <p:nvSpPr>
            <p:cNvPr name="Freeform 5" id="5" descr="https://www.sih.gov.in/img1/SIH-Logo.png"/>
            <p:cNvSpPr/>
            <p:nvPr/>
          </p:nvSpPr>
          <p:spPr>
            <a:xfrm flipH="false" flipV="false" rot="0">
              <a:off x="0" y="0"/>
              <a:ext cx="3128772" cy="1579499"/>
            </a:xfrm>
            <a:custGeom>
              <a:avLst/>
              <a:gdLst/>
              <a:ahLst/>
              <a:cxnLst/>
              <a:rect r="r" b="b" t="t" l="l"/>
              <a:pathLst>
                <a:path h="1579499" w="3128772">
                  <a:moveTo>
                    <a:pt x="0" y="0"/>
                  </a:moveTo>
                  <a:lnTo>
                    <a:pt x="3128772" y="0"/>
                  </a:lnTo>
                  <a:lnTo>
                    <a:pt x="3128772" y="1579499"/>
                  </a:lnTo>
                  <a:lnTo>
                    <a:pt x="0" y="1579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86" r="-68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04525" y="9657622"/>
            <a:ext cx="1304182" cy="19050"/>
            <a:chOff x="0" y="0"/>
            <a:chExt cx="1304176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4158" cy="19050"/>
            </a:xfrm>
            <a:custGeom>
              <a:avLst/>
              <a:gdLst/>
              <a:ahLst/>
              <a:cxnLst/>
              <a:rect r="r" b="b" t="t" l="l"/>
              <a:pathLst>
                <a:path h="19050" w="1304158">
                  <a:moveTo>
                    <a:pt x="0" y="0"/>
                  </a:moveTo>
                  <a:lnTo>
                    <a:pt x="1304158" y="0"/>
                  </a:lnTo>
                  <a:lnTo>
                    <a:pt x="130415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3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495929" y="9348450"/>
            <a:ext cx="80172" cy="39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00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7798" y="9363090"/>
            <a:ext cx="1923126" cy="39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b="true" sz="222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Demo Video 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81880" y="9348117"/>
            <a:ext cx="1588443" cy="39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003FF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03914" y="9687178"/>
            <a:ext cx="3884295" cy="53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b="true" sz="3095" spc="68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@Byte Brawlers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69307" y="9733207"/>
            <a:ext cx="238830" cy="55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2"/>
              </a:lnSpc>
            </a:pPr>
            <a:r>
              <a:rPr lang="en-US" b="true" sz="3315" spc="-4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970" y="1019175"/>
            <a:ext cx="16788060" cy="589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199" spc="2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FOOD SAFETY AND STANDARDS </a:t>
            </a:r>
            <a:r>
              <a:rPr lang="en-US" sz="2199" spc="2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(FSSAI)</a:t>
            </a:r>
            <a:r>
              <a:rPr lang="en-US" sz="2199" spc="2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(LABELLING AND DISPLAY) REGULATIONS, 2020</a:t>
            </a:r>
          </a:p>
          <a:p>
            <a:pPr algn="l">
              <a:lnSpc>
                <a:spcPts val="2699"/>
              </a:lnSpc>
            </a:pPr>
            <a:r>
              <a:rPr lang="en-US" sz="2199" spc="26">
                <a:solidFill>
                  <a:srgbClr val="0003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https://www.fssai.gov.in/upload/uploadfiles/files/Comp_Labelling%20Display_Version%20VII_03042025.pdf?utm</a:t>
            </a:r>
          </a:p>
          <a:p>
            <a:pPr algn="l" rtl="true">
              <a:lnSpc>
                <a:spcPts val="2699"/>
              </a:lnSpc>
            </a:pPr>
          </a:p>
          <a:p>
            <a:pPr algn="l">
              <a:lnSpc>
                <a:spcPts val="2699"/>
              </a:lnSpc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Legal Metrology (Packaged Commodities) Rules, 2011. </a:t>
            </a:r>
          </a:p>
          <a:p>
            <a:pPr algn="l">
              <a:lnSpc>
                <a:spcPts val="2699"/>
              </a:lnSpc>
            </a:pPr>
            <a:r>
              <a:rPr lang="en-US" sz="2199">
                <a:solidFill>
                  <a:srgbClr val="0003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https://wbconsumers.gov.in/writereaddata/ACT%20&amp;%20RULES/Act%20&amp;%20Rules/9%20The%20Legal%20Metrology%20(Package%20Commodities)%20Rules,%202011.pdf</a:t>
            </a:r>
          </a:p>
          <a:p>
            <a:pPr algn="l">
              <a:lnSpc>
                <a:spcPts val="2699"/>
              </a:lnSpc>
            </a:pPr>
          </a:p>
          <a:p>
            <a:pPr algn="l">
              <a:lnSpc>
                <a:spcPts val="2699"/>
              </a:lnSpc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Tesseract OCR Documentation</a:t>
            </a:r>
          </a:p>
          <a:p>
            <a:pPr algn="l">
              <a:lnSpc>
                <a:spcPts val="2699"/>
              </a:lnSpc>
            </a:pPr>
            <a:r>
              <a:rPr lang="en-US" sz="2199">
                <a:solidFill>
                  <a:srgbClr val="0003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https://github.com/tesseract-ocr/tessdoc?</a:t>
            </a:r>
          </a:p>
          <a:p>
            <a:pPr algn="l">
              <a:lnSpc>
                <a:spcPts val="2699"/>
              </a:lnSpc>
            </a:pPr>
          </a:p>
          <a:p>
            <a:pPr algn="l">
              <a:lnSpc>
                <a:spcPts val="2699"/>
              </a:lnSpc>
            </a:pPr>
            <a:r>
              <a:rPr lang="en-US" sz="2199">
                <a:solidFill>
                  <a:srgbClr val="0003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https://ksandk.com/legal-metrology/legal-metrology-reforms-boost-consumer-</a:t>
            </a:r>
          </a:p>
          <a:p>
            <a:pPr algn="l">
              <a:lnSpc>
                <a:spcPts val="2699"/>
              </a:lnSpc>
            </a:pPr>
            <a:r>
              <a:rPr lang="en-US" sz="2199">
                <a:solidFill>
                  <a:srgbClr val="0003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protection/</a:t>
            </a:r>
          </a:p>
          <a:p>
            <a:pPr algn="l">
              <a:lnSpc>
                <a:spcPts val="2699"/>
              </a:lnSpc>
            </a:pPr>
          </a:p>
          <a:p>
            <a:pPr algn="l">
              <a:lnSpc>
                <a:spcPts val="3803"/>
              </a:lnSpc>
            </a:pPr>
            <a:r>
              <a:rPr lang="en-US" sz="30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Github Repository</a:t>
            </a:r>
          </a:p>
          <a:p>
            <a:pPr algn="l">
              <a:lnSpc>
                <a:spcPts val="2699"/>
              </a:lnSpc>
            </a:pPr>
            <a:r>
              <a:rPr lang="en-US" sz="2199">
                <a:solidFill>
                  <a:srgbClr val="0003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https://github.com/utbtt/SIH034_byte_brawlers</a:t>
            </a:r>
          </a:p>
          <a:p>
            <a:pPr algn="l">
              <a:lnSpc>
                <a:spcPts val="2699"/>
              </a:lnSpc>
            </a:pPr>
          </a:p>
          <a:p>
            <a:pPr algn="l">
              <a:lnSpc>
                <a:spcPts val="26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385340" y="192853"/>
            <a:ext cx="7682246" cy="710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86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RESEARCH AND REFERENCES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13725" y="4894807"/>
            <a:ext cx="82763" cy="41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59564" y="3095958"/>
            <a:ext cx="5414516" cy="440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10 Rules - Legal Metrology Rules 2011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Rule 6(1)(a) — Commodity name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Rule 6(1)(b) — Manufacturer details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Rule 6(1)(c) — Net quantity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Rule 6(1)(d) — MRP (inclusive of taxes)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Rule 6(1)(g) — Manufacturing date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Rule 6(1)(h) — Best-before date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Rule 3 — Applicability / size limit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Rule 7 — Legibility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Rule 9 — Language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Rule 5 — Standard sizes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32349"/>
            <a:ext cx="18288000" cy="102223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DAHUdC1aFmw</dc:identifier>
  <dcterms:modified xsi:type="dcterms:W3CDTF">2011-08-01T06:04:30Z</dcterms:modified>
  <cp:revision>1</cp:revision>
  <dc:title>sih final ppt.pptx</dc:title>
</cp:coreProperties>
</file>